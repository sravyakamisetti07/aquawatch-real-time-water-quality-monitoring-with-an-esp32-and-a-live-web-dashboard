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5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7987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AquaWatch</a:t>
            </a:r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— Real-Time Water Quality Monitoring for Rural Drinking Water Sources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7753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Literature Review &amp; Research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32531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5213F">
              <a:alpha val="5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1475" y="363368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 2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14020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590852"/>
            <a:ext cx="10868745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4590852"/>
            <a:ext cx="2717137" cy="589062"/>
          </a:xfrm>
          <a:custGeom>
            <a:avLst/>
            <a:gdLst/>
            <a:ahLst/>
            <a:cxnLst/>
            <a:rect l="l" t="t" r="r" b="b"/>
            <a:pathLst>
              <a:path w="2717137" h="589062">
                <a:moveTo>
                  <a:pt x="20674" y="0"/>
                </a:moveTo>
                <a:lnTo>
                  <a:pt x="2717137" y="0"/>
                </a:lnTo>
                <a:lnTo>
                  <a:pt x="2717137" y="589062"/>
                </a:lnTo>
                <a:lnTo>
                  <a:pt x="20674" y="589062"/>
                </a:lnTo>
                <a:arcTo hR="20674" wR="20674" stAng="5400000" swAng="5400000"/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E9ECF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6769" y="4756150"/>
            <a:ext cx="23865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P. Srija - 2510040083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78612" y="4590852"/>
            <a:ext cx="2717236" cy="58906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78612" y="4590852"/>
            <a:ext cx="19050" cy="589062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43906" y="4756150"/>
            <a:ext cx="23866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Sania - 2510040070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48" y="4590852"/>
            <a:ext cx="2717137" cy="58906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95848" y="4590852"/>
            <a:ext cx="19050" cy="589062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1142" y="4756150"/>
            <a:ext cx="23865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K. Sravya - 2510040109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12984" y="4590852"/>
            <a:ext cx="2717236" cy="589062"/>
          </a:xfrm>
          <a:custGeom>
            <a:avLst/>
            <a:gdLst/>
            <a:ahLst/>
            <a:cxnLst/>
            <a:rect l="l" t="t" r="r" b="b"/>
            <a:pathLst>
              <a:path w="2717236" h="589062">
                <a:moveTo>
                  <a:pt x="0" y="0"/>
                </a:moveTo>
                <a:lnTo>
                  <a:pt x="2696562" y="0"/>
                </a:lnTo>
                <a:arcTo hR="20674" wR="20674" stAng="16200000" swAng="5400000"/>
                <a:lnTo>
                  <a:pt x="2717236" y="568387"/>
                </a:lnTo>
                <a:arcTo hR="20674" wR="20674" stAng="0" swAng="5400000"/>
                <a:lnTo>
                  <a:pt x="0" y="589062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812984" y="4590852"/>
            <a:ext cx="19050" cy="589062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78279" y="4756150"/>
            <a:ext cx="23866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B. Gowri - 2510040120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331"/>
            <a:ext cx="1086874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 of This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09724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1475" y="1558727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finalizing our methodology, we studied existing academic research, commercial products, and field programs in water quality monitoring — to confirm AquaWatch solves a real, unaddressed problem.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55937"/>
            <a:ext cx="5354206" cy="1975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16492" y="2366566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3239" y="2923580"/>
            <a:ext cx="49906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Survey Prior 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3239" y="3274020"/>
            <a:ext cx="49906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academic IoT water-monitoring studies using ESP32 paired with pH, turbidity, and TDS sensors across peer-reviewed publications from 2024–2026.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915" y="2255937"/>
            <a:ext cx="5354305" cy="19752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0932" y="2366566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357679" y="2923580"/>
            <a:ext cx="4990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Assess Ground Reality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57679" y="3274020"/>
            <a:ext cx="4990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how water quality is currently monitored in rural India — infrastructure availability, testing frequency, and coverage gaps at the village level.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91422"/>
            <a:ext cx="5354206" cy="19752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16492" y="4502051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43239" y="5059065"/>
            <a:ext cx="49906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the Gap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3239" y="5409505"/>
            <a:ext cx="49906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Pinpoint precisely what existing academic prototypes and commercial solutions fail to deliver, particularly for resource-constrained rural deployments.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915" y="4391422"/>
            <a:ext cx="5354305" cy="19752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0932" y="4502051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357679" y="5059065"/>
            <a:ext cx="4990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Position AquaWatch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57679" y="5409505"/>
            <a:ext cx="4990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how each deliberate design choice in AquaWatch directly responds to a documented gap in the existing literature and field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28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Ground Reality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978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Water Quality Crisis in Rural India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745258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73%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49773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Villages Without Field Test Kits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855416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three-quarters of villages had no Field Test Kit available for drinking water assessment.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99132" y="1745258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in 4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6199132" y="249773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Tap Samples Failed Standards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9132" y="2855416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Household tap-water samples failed microbiological safety standards under national survey conditions.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797995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~2,100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661475" y="4550470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Government Labs Nationwide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4908153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Approximately 2,100 government water-testing labs serve all ~600,000 villages — a ratio of 1 lab per 286 villages.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132" y="3797995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 in 4</a:t>
            </a:r>
            <a:endParaRPr lang="en-US" sz="4250" dirty="0"/>
          </a:p>
        </p:txBody>
      </p:sp>
      <p:sp>
        <p:nvSpPr>
          <p:cNvPr id="14" name="Text 12"/>
          <p:cNvSpPr/>
          <p:nvPr/>
        </p:nvSpPr>
        <p:spPr>
          <a:xfrm>
            <a:off x="6199132" y="4550470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Households With No Treatment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132" y="4908153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in four households consume tap water with zero treatment or filtration of any kind.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623421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  <p:txBody>
          <a:bodyPr/>
          <a:p/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863134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82999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Sources: The Wire (2026); Nature Scientific Reports (2025)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898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1135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Academic Studies Reviewed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87831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key peer-reviewed studies form the primary evidence base for AquaWatch's technical architecture. Each advances the field — and each reveals a limitation our system is designed to overcome.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93578"/>
            <a:ext cx="10868745" cy="3475335"/>
          </a:xfrm>
          <a:prstGeom prst="roundRect">
            <a:avLst>
              <a:gd name="adj" fmla="val 71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475" y="3078857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1475" y="3825577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457229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1475" y="531901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924" y="2599928"/>
            <a:ext cx="2171150" cy="478929"/>
          </a:xfrm>
          <a:custGeom>
            <a:avLst/>
            <a:gdLst/>
            <a:ahLst/>
            <a:cxnLst/>
            <a:rect l="l" t="t" r="r" b="b"/>
            <a:pathLst>
              <a:path w="2171150" h="478929">
                <a:moveTo>
                  <a:pt x="20674" y="0"/>
                </a:moveTo>
                <a:lnTo>
                  <a:pt x="2171150" y="0"/>
                </a:lnTo>
                <a:lnTo>
                  <a:pt x="2171150" y="478929"/>
                </a:lnTo>
                <a:lnTo>
                  <a:pt x="0" y="478929"/>
                </a:lnTo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001A3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218" y="2705497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Source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9074" y="2599928"/>
            <a:ext cx="3799586" cy="478929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04368" y="2705497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38660" y="2599928"/>
            <a:ext cx="4885211" cy="478929"/>
          </a:xfrm>
          <a:custGeom>
            <a:avLst/>
            <a:gdLst/>
            <a:ahLst/>
            <a:cxnLst/>
            <a:rect l="l" t="t" r="r" b="b"/>
            <a:pathLst>
              <a:path w="4885211" h="478929">
                <a:moveTo>
                  <a:pt x="0" y="0"/>
                </a:moveTo>
                <a:lnTo>
                  <a:pt x="4864537" y="0"/>
                </a:lnTo>
                <a:arcTo hR="20674" wR="20674" stAng="16200000" swAng="5400000"/>
                <a:lnTo>
                  <a:pt x="4885211" y="478929"/>
                </a:lnTo>
                <a:lnTo>
                  <a:pt x="0" y="478929"/>
                </a:lnTo>
                <a:lnTo>
                  <a:pt x="0" y="0"/>
                </a:lnTo>
                <a:close/>
              </a:path>
            </a:pathLst>
          </a:custGeom>
          <a:solidFill>
            <a:srgbClr val="001A3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03954" y="2705497"/>
            <a:ext cx="516420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Finding → Limitation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18" y="3187601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IJRASET 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04368" y="3187601"/>
            <a:ext cx="3468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+ Blynk; TDS / pH / Turbidity sensors with pump and filtration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03954" y="3187601"/>
            <a:ext cx="455462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good real-time visibility — but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WHO-threshold alerting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contamination events go unnotified.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218" y="3934321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IEEE Xplore 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04368" y="3934321"/>
            <a:ext cx="3468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+ Firebase cloud backend; economical multi-sensor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03954" y="3934321"/>
            <a:ext cx="455462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the design is economical and scalable — but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validated in lab only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no field or village testing.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218" y="4681041"/>
            <a:ext cx="184056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Nature Sci. Reports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04368" y="4681041"/>
            <a:ext cx="3468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+ TinyML on-device inference; full system under $80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954" y="4681041"/>
            <a:ext cx="455462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Impressive cost target — but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ML complexity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inappropriate for first-deployment, low-literacy rural contexts.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218" y="5427762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IJFMR 2025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04368" y="5427762"/>
            <a:ext cx="3468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+ TDS/Turbidity cross-checked against ML model; Solan village pilot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03954" y="5427762"/>
            <a:ext cx="455462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Closest real-world precedent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literature — still a single-site pilot with limited generalizability.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846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Commercial &amp; Field 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3830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Solutions and Their Limitations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14778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academic research, three categories of solutions are currently deployed or commercially available. Each addresses part of the problem — none addresses it completely for rural India.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63056"/>
            <a:ext cx="3512653" cy="29363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047405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Lab-Grade Sensors — Hach, YSI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405088"/>
            <a:ext cx="3067767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8B8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Strength: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Highly accurate, continuous, and multi-parameter. Trusted by water utilities and research institutions globally.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1A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✗ 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Capital cost exceeds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$2,000 per unit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economically unviable for any rural panchayat or self-help group deployment in India.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863056"/>
            <a:ext cx="3512752" cy="29363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99964" y="3047405"/>
            <a:ext cx="30678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Field Test Kits — Government-Issued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99964" y="3663553"/>
            <a:ext cx="3067866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8B8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Strength: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Low-cost, require no electricity, and are operable by community members with minimal training.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1A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✗ 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Deliver only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manual one-time snapshot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continuous. Absent in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 of villages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nationwide.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863056"/>
            <a:ext cx="3512653" cy="29363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8010" y="3047405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DIY IoT Dashboards — Student Projects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78010" y="3663553"/>
            <a:ext cx="3067767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8B8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Strength: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Affordable hardware, open-source, and proves technical feasibility of ESP32-based sensor stacks.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1A3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✗ 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as academic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proof-of-concept demos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no rural-specific alerting logic, no field hardening, no deployment plans.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68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9482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Gaps Identified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71301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reviewed academic literature and commercial solutions, four structural gaps recur consistently — each representing a failure mode that leaves rural communities unprotected.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42828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23485" y="245928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98830" y="2485132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Rural-Specific Low-Cost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2842816"/>
            <a:ext cx="479363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IoT solutions are either expensive lab prototypes or commercial products priced beyond rural reach. No study has produced a system explicitly designed and costed for village-level deployment in India, accounting for power intermittency, low-literacy users, and local maintainability.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132" y="2428280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61142" y="245928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36487" y="2485132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One-Time Snapshots, Not Continuous Monitoring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6487" y="2842816"/>
            <a:ext cx="479373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 test kits and manual testing capture a single moment in time. Water quality fluctuates significantly across the day due to pipe pressure changes, upstream activity, and contamination events — meaning snapshot testing structurally misses emerging hazards.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496594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3485" y="4527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98830" y="4553446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Automatic Alerting Mechanism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8830" y="4911130"/>
            <a:ext cx="479363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 of the reviewed low-cost studies implement WHO-threshold-based alerts. Manual testing means contamination goes entirely undetected until the next scheduled check — which may be days or weeks later in rural settings.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132" y="4496594"/>
            <a:ext cx="372061" cy="372070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1142" y="4527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36487" y="4553446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Little Real-World Field 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6487" y="4911130"/>
            <a:ext cx="479373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overwhelming majority of reviewed studies are conducted under controlled lab conditions. Only the IJFMR 2025 Solan village pilot constitutes genuine field evidence — a single site, making generalization to diverse rural contexts scientifically premature.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95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AquaWatch Response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9274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AquaWatch Addresses Each Gap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61475" y="1692275"/>
            <a:ext cx="10868745" cy="3475335"/>
          </a:xfrm>
          <a:prstGeom prst="roundRect">
            <a:avLst>
              <a:gd name="adj" fmla="val 71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1475" y="217755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475" y="292427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1475" y="367099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441771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553135" y="1692275"/>
            <a:ext cx="10337" cy="34753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924" y="1698625"/>
            <a:ext cx="4885211" cy="478929"/>
          </a:xfrm>
          <a:custGeom>
            <a:avLst/>
            <a:gdLst/>
            <a:ahLst/>
            <a:cxnLst/>
            <a:rect l="l" t="t" r="r" b="b"/>
            <a:pathLst>
              <a:path w="4885211" h="478929">
                <a:moveTo>
                  <a:pt x="20674" y="0"/>
                </a:moveTo>
                <a:lnTo>
                  <a:pt x="4885211" y="0"/>
                </a:lnTo>
                <a:lnTo>
                  <a:pt x="4885211" y="478929"/>
                </a:lnTo>
                <a:lnTo>
                  <a:pt x="0" y="478929"/>
                </a:lnTo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001A3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218" y="1804194"/>
            <a:ext cx="51610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53135" y="1698625"/>
            <a:ext cx="5970736" cy="478929"/>
          </a:xfrm>
          <a:custGeom>
            <a:avLst/>
            <a:gdLst/>
            <a:ahLst/>
            <a:cxnLst/>
            <a:rect l="l" t="t" r="r" b="b"/>
            <a:pathLst>
              <a:path w="5970736" h="478929">
                <a:moveTo>
                  <a:pt x="0" y="0"/>
                </a:moveTo>
                <a:lnTo>
                  <a:pt x="5950062" y="0"/>
                </a:lnTo>
                <a:arcTo hR="20674" wR="20674" stAng="16200000" swAng="5400000"/>
                <a:lnTo>
                  <a:pt x="5970736" y="478929"/>
                </a:lnTo>
                <a:lnTo>
                  <a:pt x="0" y="478929"/>
                </a:lnTo>
                <a:lnTo>
                  <a:pt x="0" y="0"/>
                </a:lnTo>
                <a:close/>
              </a:path>
            </a:pathLst>
          </a:custGeom>
          <a:solidFill>
            <a:srgbClr val="001A3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21604" y="1804194"/>
            <a:ext cx="624655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AquaWatch 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218" y="2286298"/>
            <a:ext cx="51610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rural-specific low-cost design available in literature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21604" y="2286298"/>
            <a:ext cx="56369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Affordable ESP32-based build targeted at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₹1,400–2,400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BOM — designed from the ground up for rural Indian deployment constraints.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18" y="3033018"/>
            <a:ext cx="45514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One-time snapshots fail to capture intraday contamination events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21604" y="3033018"/>
            <a:ext cx="56369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 second-by-second sensing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pH, turbidity, and TDS parameters — no gaps in the monitoring timeline.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218" y="3779738"/>
            <a:ext cx="45514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automatic alerting; contamination undetected between manual checks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21604" y="3779738"/>
            <a:ext cx="56369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Live WHO-threshold alerts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triggered automatically when any parameter breaches safe drinking water limits — zero manual intervention required.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218" y="4526459"/>
            <a:ext cx="51610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Little real-world field validation; nearly all studies are lab-only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21604" y="4526459"/>
            <a:ext cx="56369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Planned pilot testing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an active rural water source, to be reported in Review 3 and Review 4 — generating the field data the literature currently lacks.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516" y="5539680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technology to sense water quality already exists — AquaWatch's contribution is making it affordable, continuous, alert-driven, and field-ready for rural India.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475" y="5353645"/>
            <a:ext cx="19050" cy="901303"/>
          </a:xfrm>
          <a:prstGeom prst="roundRect">
            <a:avLst>
              <a:gd name="adj" fmla="val 49999"/>
            </a:avLst>
          </a:prstGeom>
          <a:solidFill>
            <a:srgbClr val="3257B8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7483"/>
            <a:ext cx="1086874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20B2A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1475" y="797818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Sources Cited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661475" y="1500287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1744663"/>
            <a:ext cx="5361647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1475" y="1860252"/>
            <a:ext cx="536164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IJRASET (2025)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189659"/>
            <a:ext cx="5361647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"IoT-Based Water Quality Monitoring System." DOI: 10.22214/ijraset.2025.69430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68474" y="1500287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8474" y="1744663"/>
            <a:ext cx="536174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68474" y="1860252"/>
            <a:ext cx="53617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IJRASET (2024)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68474" y="2189659"/>
            <a:ext cx="536174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"Smart Water Quality Monitoring Using ESP32." DOI: 10.22214/ijraset.2024.65515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2931914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3160812"/>
            <a:ext cx="5361647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1475" y="3291880"/>
            <a:ext cx="536164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IEEE Xplore (2025)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1475" y="3621286"/>
            <a:ext cx="5361647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"Cloud-Based Water Quality Monitoring for Rural Communities."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68474" y="2931914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8474" y="3160812"/>
            <a:ext cx="536174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68474" y="3291880"/>
            <a:ext cx="53617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Nature Scientific Reports (2026)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8474" y="3621286"/>
            <a:ext cx="536174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"Low-Cost IoT Sensors for Drinking Water Surveillance."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4123234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1475" y="4336653"/>
            <a:ext cx="5361647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1475" y="4483199"/>
            <a:ext cx="536164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IJFMR (2025)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1475" y="4812605"/>
            <a:ext cx="5361647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"Field Validation of ESP32-Based Water Quality Monitoring in Solan Village."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68474" y="4123234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8474" y="4336653"/>
            <a:ext cx="536174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68474" y="4483199"/>
            <a:ext cx="53617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Wire (2026)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68474" y="4812605"/>
            <a:ext cx="536174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"1 in 4 Tap Water Samples Fail Microbiological Standards."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475" y="5314553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475" y="5512495"/>
            <a:ext cx="5361647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1475" y="5674519"/>
            <a:ext cx="536164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Nature Scientific Reports (2025)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1475" y="6003925"/>
            <a:ext cx="5361647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"Community-Based Field Test Kit Models for Water Quality Assessment."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8474" y="5314553"/>
            <a:ext cx="31005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8474" y="5512495"/>
            <a:ext cx="5361746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68474" y="5674519"/>
            <a:ext cx="53617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Down To Earth (2022)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68474" y="6003925"/>
            <a:ext cx="536174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"Reliability and Limitations of Government Field Test Kits."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2026-08-19T08:12:46Z</dcterms:created>
  <dcterms:modified xsi:type="dcterms:W3CDTF">2026-08-19T08:12:46Z</dcterms:modified>
</cp:coreProperties>
</file>