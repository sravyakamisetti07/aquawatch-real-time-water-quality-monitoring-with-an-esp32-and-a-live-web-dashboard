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586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problem: manual testing is slow and there is no early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flow. Stress that the pH path is real hardware and the rest of the system is shown in the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simulation dashboard. Say clearly that turbidity and TDS are demonstrated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photo: probe, module, ESP32, LEDs and buzzer. The voltage divider protects the ESP32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live demo here: water, then lemon juice, then rinse. Keep a screen recording ready as a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pH values are approximate until calibrated with pH 4 and pH 7 buffers. Replace the ___ ms with your measured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F4E90-1D78-2AEE-40F4-AA81C61D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EC0349-68EA-EA04-D015-E4A4C65C5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A069B-7C0B-C5F4-4419-1CC88D426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pH values are approximate until calibrated with pH 4 and pH 7 buffers. Replace the ___ ms with your measured delay.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83807-33F1-DD38-B295-EA7FDEB55C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43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what the prototype proves and what you would do next.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640080"/>
            <a:ext cx="3291840" cy="3291840"/>
          </a:xfrm>
          <a:prstGeom prst="ellipse">
            <a:avLst/>
          </a:prstGeom>
          <a:solidFill>
            <a:srgbClr val="0B3B3C"/>
          </a:solidFill>
          <a:ln w="19050">
            <a:solidFill>
              <a:srgbClr val="2FB5A8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1280160"/>
            <a:ext cx="2011680" cy="2011680"/>
          </a:xfrm>
          <a:prstGeom prst="ellipse">
            <a:avLst/>
          </a:prstGeom>
          <a:solidFill>
            <a:srgbClr val="0B3B3C"/>
          </a:solidFill>
          <a:ln w="25400">
            <a:solidFill>
              <a:srgbClr val="2FB5A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12280" y="1874520"/>
            <a:ext cx="822960" cy="822960"/>
          </a:xfrm>
          <a:prstGeom prst="ellipse">
            <a:avLst/>
          </a:prstGeom>
          <a:solidFill>
            <a:srgbClr val="2FB5A8"/>
          </a:solidFill>
          <a:ln w="12700">
            <a:solidFill>
              <a:srgbClr val="2FB5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777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AquaWatch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74767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water quality monitoring with an ESP32 and a live web dashboard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7115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manual water testing is slow and gives no early warning when water becomes unsafe.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376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2510040070 – Sania Khan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2510040083 – P Srija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2510040109 – K Sravya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2510040120 – B Gowri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and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135F61"/>
          </a:solidFill>
          <a:ln w="12700">
            <a:solidFill>
              <a:srgbClr val="135F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pH, turbidity and TDS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457200" cy="457200"/>
          </a:xfrm>
          <a:prstGeom prst="ellipse">
            <a:avLst/>
          </a:prstGeom>
          <a:solidFill>
            <a:srgbClr val="135F61"/>
          </a:solidFill>
          <a:ln w="12700">
            <a:solidFill>
              <a:srgbClr val="135F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alerts when a reading leaves the safe range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457200" cy="457200"/>
          </a:xfrm>
          <a:prstGeom prst="ellipse">
            <a:avLst/>
          </a:prstGeom>
          <a:solidFill>
            <a:srgbClr val="135F61"/>
          </a:solidFill>
          <a:ln w="12700">
            <a:solidFill>
              <a:srgbClr val="135F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data on a web dashboard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143000" cy="1005840"/>
          </a:xfrm>
          <a:prstGeom prst="roundRect">
            <a:avLst>
              <a:gd name="adj" fmla="val 1090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 probe)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18488" y="3154680"/>
            <a:ext cx="237744" cy="0"/>
          </a:xfrm>
          <a:prstGeom prst="line">
            <a:avLst/>
          </a:prstGeom>
          <a:noFill/>
          <a:ln w="25400">
            <a:solidFill>
              <a:srgbClr val="5D7F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874520" y="2651760"/>
            <a:ext cx="1143000" cy="1005840"/>
          </a:xfrm>
          <a:prstGeom prst="roundRect">
            <a:avLst>
              <a:gd name="adj" fmla="val 10909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74520" y="26517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35808" y="3154680"/>
            <a:ext cx="237744" cy="0"/>
          </a:xfrm>
          <a:prstGeom prst="line">
            <a:avLst/>
          </a:prstGeom>
          <a:noFill/>
          <a:ln w="25400">
            <a:solidFill>
              <a:srgbClr val="5D7F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91840" y="2651760"/>
            <a:ext cx="1143000" cy="1005840"/>
          </a:xfrm>
          <a:prstGeom prst="roundRect">
            <a:avLst>
              <a:gd name="adj" fmla="val 1090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26517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53128" y="3154680"/>
            <a:ext cx="237744" cy="0"/>
          </a:xfrm>
          <a:prstGeom prst="line">
            <a:avLst/>
          </a:prstGeom>
          <a:noFill/>
          <a:ln w="25400">
            <a:solidFill>
              <a:srgbClr val="5D7F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09160" y="2651760"/>
            <a:ext cx="1143000" cy="1005840"/>
          </a:xfrm>
          <a:prstGeom prst="roundRect">
            <a:avLst>
              <a:gd name="adj" fmla="val 1090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9160" y="26517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70448" y="3154680"/>
            <a:ext cx="237744" cy="0"/>
          </a:xfrm>
          <a:prstGeom prst="line">
            <a:avLst/>
          </a:prstGeom>
          <a:noFill/>
          <a:ln w="25400">
            <a:solidFill>
              <a:srgbClr val="5D7F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26480" y="2651760"/>
            <a:ext cx="1143000" cy="1005840"/>
          </a:xfrm>
          <a:prstGeom prst="roundRect">
            <a:avLst>
              <a:gd name="adj" fmla="val 1090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26517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87768" y="3154680"/>
            <a:ext cx="237744" cy="0"/>
          </a:xfrm>
          <a:prstGeom prst="line">
            <a:avLst/>
          </a:prstGeom>
          <a:noFill/>
          <a:ln w="25400">
            <a:solidFill>
              <a:srgbClr val="5D7F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543800" y="2651760"/>
            <a:ext cx="1143000" cy="1005840"/>
          </a:xfrm>
          <a:prstGeom prst="roundRect">
            <a:avLst>
              <a:gd name="adj" fmla="val 10909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43800" y="26517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prototype runs the pH path end to end. Turbidity and TDS run in the simulation.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Simulation: the full system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parameters: pH, turbidity and TDS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readings published over MQTT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live values and alert states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decide Safe or Alert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BFB92A-1178-5FDB-77C5-4088B8110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74618"/>
            <a:ext cx="4452743" cy="30687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prototype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3108960"/>
          </a:xfrm>
          <a:prstGeom prst="rect">
            <a:avLst/>
          </a:prstGeom>
          <a:solidFill>
            <a:srgbClr val="EEF6F5"/>
          </a:solidFill>
          <a:ln w="19050">
            <a:solidFill>
              <a:srgbClr val="5D7F80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D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circuit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28016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EEF6F5"/>
          </a:solidFill>
          <a:ln w="12700">
            <a:solidFill>
              <a:srgbClr val="EE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0" y="1280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probe and PH-4502C module, read by the ESP32 on GPIO 34 through a 10k divider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233172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EEF6F5"/>
          </a:solidFill>
          <a:ln w="12700">
            <a:solidFill>
              <a:srgbClr val="EEF6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2331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 when safe, red LED and buzzer outside pH 6.5 to 8.5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338328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EEF6F5"/>
          </a:solidFill>
          <a:ln w="12700">
            <a:solidFill>
              <a:srgbClr val="EEF6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33832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5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only because of cost; turbidity and TDS stay in simulation</a:t>
            </a:r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0250017-F207-68EF-7BEF-5C3733899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5309"/>
            <a:ext cx="3931920" cy="33786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and demo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206240" cy="3108960"/>
          </a:xfrm>
          <a:prstGeom prst="rect">
            <a:avLst/>
          </a:prstGeom>
          <a:solidFill>
            <a:srgbClr val="EEF6F5"/>
          </a:solidFill>
          <a:ln w="19050">
            <a:solidFill>
              <a:srgbClr val="5D7F80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D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0" y="1417320"/>
            <a:ext cx="457200" cy="4572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280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in water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D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green LED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37760" y="2331720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in lemon juice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D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red LED, buzzer, phone alert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37760" y="3246120"/>
            <a:ext cx="457200" cy="4572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108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Rinse, back in water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D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Safe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4069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features: live pH, history chart, alert log, CSV download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ADE97C-2DC0-4B3C-16BE-6201DE05E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86" y="1144980"/>
            <a:ext cx="4323894" cy="36167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limitations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EEF6F5"/>
          </a:solidFill>
          <a:ln w="12700">
            <a:solidFill>
              <a:srgbClr val="EE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1.9 V</a:t>
            </a:r>
            <a:endParaRPr lang="en-US" sz="3400" dirty="0"/>
          </a:p>
          <a:p>
            <a:pPr marL="0" indent="0">
              <a:buNone/>
            </a:pPr>
            <a:r>
              <a:rPr lang="en-US" sz="1200" dirty="0">
                <a:solidFill>
                  <a:srgbClr val="5D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water, module output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46120" y="11887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EEF6F5"/>
          </a:solidFill>
          <a:ln w="12700">
            <a:solidFill>
              <a:srgbClr val="EE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29000" y="1188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3.35 V</a:t>
            </a:r>
            <a:endParaRPr lang="en-US" sz="3400" dirty="0"/>
          </a:p>
          <a:p>
            <a:pPr marL="0" indent="0">
              <a:buNone/>
            </a:pPr>
            <a:r>
              <a:rPr lang="en-US" sz="1200" dirty="0">
                <a:solidFill>
                  <a:srgbClr val="5D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lemon juice (acid)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035040" y="11887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EEF6F5"/>
          </a:solidFill>
          <a:ln w="12700">
            <a:solidFill>
              <a:srgbClr val="EEF6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188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 ms</a:t>
            </a:r>
            <a:endParaRPr lang="en-US" sz="3400" dirty="0"/>
          </a:p>
          <a:p>
            <a:pPr marL="0" indent="0">
              <a:buNone/>
            </a:pPr>
            <a:r>
              <a:rPr lang="en-US" sz="1200" dirty="0">
                <a:solidFill>
                  <a:srgbClr val="5D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Delay, ESP32 to screen (fill in your average)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 outside pH 6.5 to 8.5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rises with acidity, as expected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works on a phone over mobile data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1089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is provisional: no buffer calibration yet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Turbidity and TDS not connected in hardware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MQTT broker, no login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DEC3F-9C3F-38FA-DCB7-909ACAF51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B499A0-EEA7-6217-25FE-20D1BC7DBD0A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Cost Breakdown</a:t>
            </a:r>
            <a:endParaRPr lang="en-US" sz="34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4951DE8-33E4-B957-2BDB-92F736E40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525196"/>
              </p:ext>
            </p:extLst>
          </p:nvPr>
        </p:nvGraphicFramePr>
        <p:xfrm>
          <a:off x="457200" y="1224731"/>
          <a:ext cx="8139545" cy="35768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821381">
                  <a:extLst>
                    <a:ext uri="{9D8B030D-6E8A-4147-A177-3AD203B41FA5}">
                      <a16:colId xmlns:a16="http://schemas.microsoft.com/office/drawing/2014/main" val="1694821975"/>
                    </a:ext>
                  </a:extLst>
                </a:gridCol>
                <a:gridCol w="1503218">
                  <a:extLst>
                    <a:ext uri="{9D8B030D-6E8A-4147-A177-3AD203B41FA5}">
                      <a16:colId xmlns:a16="http://schemas.microsoft.com/office/drawing/2014/main" val="2323105327"/>
                    </a:ext>
                  </a:extLst>
                </a:gridCol>
                <a:gridCol w="1814946">
                  <a:extLst>
                    <a:ext uri="{9D8B030D-6E8A-4147-A177-3AD203B41FA5}">
                      <a16:colId xmlns:a16="http://schemas.microsoft.com/office/drawing/2014/main" val="367396805"/>
                    </a:ext>
                  </a:extLst>
                </a:gridCol>
              </a:tblGrid>
              <a:tr h="307131">
                <a:tc>
                  <a:txBody>
                    <a:bodyPr/>
                    <a:lstStyle/>
                    <a:p>
                      <a:r>
                        <a:rPr lang="en-US" dirty="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(₹)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934847"/>
                  </a:ext>
                </a:extLst>
              </a:tr>
              <a:tr h="422429">
                <a:tc>
                  <a:txBody>
                    <a:bodyPr/>
                    <a:lstStyle/>
                    <a:p>
                      <a:r>
                        <a:rPr lang="en-US" dirty="0"/>
                        <a:t>ESP32 dev board + USB 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684823"/>
                  </a:ext>
                </a:extLst>
              </a:tr>
              <a:tr h="537480">
                <a:tc>
                  <a:txBody>
                    <a:bodyPr/>
                    <a:lstStyle/>
                    <a:p>
                      <a:r>
                        <a:rPr lang="en-US" dirty="0"/>
                        <a:t>pH sensor kit (probe + PH-4502C module)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1170/-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817709"/>
                  </a:ext>
                </a:extLst>
              </a:tr>
              <a:tr h="307131">
                <a:tc>
                  <a:txBody>
                    <a:bodyPr/>
                    <a:lstStyle/>
                    <a:p>
                      <a:r>
                        <a:rPr lang="en-US" dirty="0"/>
                        <a:t>Full-size breadboard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113/-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681888"/>
                  </a:ext>
                </a:extLst>
              </a:tr>
              <a:tr h="307131"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Jumper wires (F-F, M-F, M-M)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680923"/>
                  </a:ext>
                </a:extLst>
              </a:tr>
              <a:tr h="422429">
                <a:tc>
                  <a:txBody>
                    <a:bodyPr/>
                    <a:lstStyle/>
                    <a:p>
                      <a:r>
                        <a:rPr lang="en-US" dirty="0"/>
                        <a:t>Resistors (10k ×2, 220Ω ×2)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614323"/>
                  </a:ext>
                </a:extLst>
              </a:tr>
              <a:tr h="362506">
                <a:tc>
                  <a:txBody>
                    <a:bodyPr/>
                    <a:lstStyle/>
                    <a:p>
                      <a:r>
                        <a:rPr lang="en-US" dirty="0"/>
                        <a:t>Active Buzzer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412368"/>
                  </a:ext>
                </a:extLst>
              </a:tr>
              <a:tr h="362506">
                <a:tc>
                  <a:txBody>
                    <a:bodyPr/>
                    <a:lstStyle/>
                    <a:p>
                      <a:r>
                        <a:rPr lang="en-US" dirty="0"/>
                        <a:t>LEDs (red, green)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725747"/>
                  </a:ext>
                </a:extLst>
              </a:tr>
              <a:tr h="362506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1803/-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675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23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and 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B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Two-point calibration with pH 4 and pH 7 buffers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turbidity and TDS sensors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for 24/7 history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broker with login and encryption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 enclosure and app alerts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28016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35F61"/>
          </a:solidFill>
          <a:ln w="12700">
            <a:solidFill>
              <a:srgbClr val="135F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0" y="128016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FB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AquaWatch shows the full chain working on real water: a probe reading, an ESP32 alert, and a live dashboard anyone can open from their phone.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652</Words>
  <Application>Microsoft Office PowerPoint</Application>
  <PresentationFormat>On-screen Show (16:9)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AquaWatch - Final Review</dc:title>
  <dc:subject>PptxGenJS Presentation</dc:subject>
  <dc:creator>PptxGenJS</dc:creator>
  <cp:lastModifiedBy>Sravya Kamisetti</cp:lastModifiedBy>
  <cp:revision>2</cp:revision>
  <dcterms:created xsi:type="dcterms:W3CDTF">2026-10-09T03:10:11Z</dcterms:created>
  <dcterms:modified xsi:type="dcterms:W3CDTF">2026-10-09T05:52:27Z</dcterms:modified>
</cp:coreProperties>
</file>