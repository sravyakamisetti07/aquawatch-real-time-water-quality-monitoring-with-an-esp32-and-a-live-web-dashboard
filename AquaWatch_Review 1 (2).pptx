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Inter" panose="020B0604020202020204" charset="0"/>
      <p:regular r:id="rId13"/>
    </p:embeddedFont>
    <p:embeddedFont>
      <p:font typeface="Inter 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32"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6417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a:p>
        </p:txBody>
      </p:sp>
      <p:sp>
        <p:nvSpPr>
          <p:cNvPr id="3" name="Shape 1"/>
          <p:cNvSpPr/>
          <p:nvPr/>
        </p:nvSpPr>
        <p:spPr>
          <a:xfrm>
            <a:off x="0" y="0"/>
            <a:ext cx="9144000" cy="5143500"/>
          </a:xfrm>
          <a:prstGeom prst="rect">
            <a:avLst/>
          </a:prstGeom>
          <a:solidFill>
            <a:srgbClr val="FFFFFF"/>
          </a:solidFill>
          <a:ln/>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4980196" y="480499"/>
            <a:ext cx="4722763" cy="442987"/>
          </a:xfrm>
          <a:prstGeom prst="rect">
            <a:avLst/>
          </a:prstGeom>
          <a:noFill/>
          <a:ln/>
        </p:spPr>
        <p:txBody>
          <a:bodyPr wrap="none" lIns="0" tIns="0" rIns="0" bIns="0" rtlCol="0" anchor="t"/>
          <a:lstStyle/>
          <a:p>
            <a:pPr marL="0" indent="0" algn="l">
              <a:lnSpc>
                <a:spcPct val="104000"/>
              </a:lnSpc>
              <a:buNone/>
            </a:pPr>
            <a:r>
              <a:rPr lang="en-US" sz="2750" b="1" kern="0" spc="-84" dirty="0">
                <a:solidFill>
                  <a:srgbClr val="000000"/>
                </a:solidFill>
                <a:latin typeface="Inter Bold" pitchFamily="34" charset="0"/>
                <a:ea typeface="Inter Bold" pitchFamily="34" charset="-122"/>
                <a:cs typeface="Inter Bold" pitchFamily="34" charset="-120"/>
              </a:rPr>
              <a:t>AquaWatch</a:t>
            </a:r>
            <a:endParaRPr lang="en-US" sz="2750" dirty="0"/>
          </a:p>
        </p:txBody>
      </p:sp>
      <p:sp>
        <p:nvSpPr>
          <p:cNvPr id="4" name="Text 1"/>
          <p:cNvSpPr/>
          <p:nvPr/>
        </p:nvSpPr>
        <p:spPr>
          <a:xfrm>
            <a:off x="4058763" y="1255662"/>
            <a:ext cx="4722763" cy="967033"/>
          </a:xfrm>
          <a:prstGeom prst="rect">
            <a:avLst/>
          </a:prstGeom>
          <a:noFill/>
          <a:ln/>
        </p:spPr>
        <p:txBody>
          <a:bodyPr wrap="square" lIns="0" tIns="0" rIns="0" bIns="0" rtlCol="0" anchor="t">
            <a:normAutofit fontScale="92500" lnSpcReduction="20000"/>
          </a:bodyPr>
          <a:lstStyle/>
          <a:p>
            <a:pPr marL="0" indent="0" algn="l">
              <a:lnSpc>
                <a:spcPct val="133000"/>
              </a:lnSpc>
              <a:spcAft>
                <a:spcPts val="1250"/>
              </a:spcAft>
              <a:buNone/>
            </a:pPr>
            <a:r>
              <a:rPr lang="en-US" kern="0" spc="-22" dirty="0">
                <a:solidFill>
                  <a:srgbClr val="272525"/>
                </a:solidFill>
                <a:latin typeface="Inter" pitchFamily="34" charset="0"/>
                <a:ea typeface="Inter" pitchFamily="34" charset="-122"/>
                <a:cs typeface="Inter" pitchFamily="34" charset="-120"/>
              </a:rPr>
              <a:t>Real‑time water quality monitoring dashboard for rural drinking water sources</a:t>
            </a:r>
            <a:endParaRPr lang="en-US" dirty="0"/>
          </a:p>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                                                                                              </a:t>
            </a: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kern="0" spc="-22" dirty="0">
              <a:solidFill>
                <a:srgbClr val="272525"/>
              </a:solidFill>
              <a:latin typeface="Inter" pitchFamily="34" charset="0"/>
              <a:ea typeface="Inter" pitchFamily="34" charset="-122"/>
              <a:cs typeface="Inter" pitchFamily="34" charset="-120"/>
            </a:endParaRPr>
          </a:p>
          <a:p>
            <a:pPr marL="0" indent="0" algn="l">
              <a:lnSpc>
                <a:spcPct val="133000"/>
              </a:lnSpc>
              <a:buNone/>
            </a:pPr>
            <a:endParaRPr lang="en-US" sz="1100" dirty="0"/>
          </a:p>
        </p:txBody>
      </p:sp>
      <p:sp>
        <p:nvSpPr>
          <p:cNvPr id="5" name="Rectangle 4">
            <a:extLst>
              <a:ext uri="{FF2B5EF4-FFF2-40B4-BE49-F238E27FC236}">
                <a16:creationId xmlns:a16="http://schemas.microsoft.com/office/drawing/2014/main" id="{F7C230CA-5963-16AE-EC8D-6BEE5237C7D8}"/>
              </a:ext>
            </a:extLst>
          </p:cNvPr>
          <p:cNvSpPr/>
          <p:nvPr/>
        </p:nvSpPr>
        <p:spPr>
          <a:xfrm>
            <a:off x="6970542" y="2919046"/>
            <a:ext cx="1997612" cy="18499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6540A5B-9437-0964-50D9-06156F19EE17}"/>
              </a:ext>
            </a:extLst>
          </p:cNvPr>
          <p:cNvSpPr/>
          <p:nvPr/>
        </p:nvSpPr>
        <p:spPr>
          <a:xfrm>
            <a:off x="6872069" y="3138779"/>
            <a:ext cx="2468880" cy="21589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133000"/>
              </a:lnSpc>
            </a:pPr>
            <a:r>
              <a:rPr lang="en-US" sz="1100" kern="0" spc="-22" dirty="0">
                <a:solidFill>
                  <a:srgbClr val="272525"/>
                </a:solidFill>
                <a:latin typeface="Inter" pitchFamily="34" charset="0"/>
                <a:ea typeface="Inter" pitchFamily="34" charset="-122"/>
                <a:cs typeface="Inter" pitchFamily="34" charset="-120"/>
              </a:rPr>
              <a:t> </a:t>
            </a:r>
            <a:r>
              <a:rPr lang="en-US" sz="1000" kern="0" spc="-22" dirty="0">
                <a:solidFill>
                  <a:srgbClr val="272525"/>
                </a:solidFill>
                <a:latin typeface="Inter" pitchFamily="34" charset="0"/>
                <a:ea typeface="Inter" pitchFamily="34" charset="-122"/>
                <a:cs typeface="Inter" pitchFamily="34" charset="-120"/>
              </a:rPr>
              <a:t>Presented by:</a:t>
            </a:r>
          </a:p>
          <a:p>
            <a:pPr>
              <a:lnSpc>
                <a:spcPct val="133000"/>
              </a:lnSpc>
            </a:pPr>
            <a:endParaRPr lang="en-US" sz="1000" kern="0" spc="-22" dirty="0">
              <a:solidFill>
                <a:srgbClr val="272525"/>
              </a:solidFill>
              <a:latin typeface="Inter" pitchFamily="34" charset="0"/>
              <a:ea typeface="Inter" pitchFamily="34" charset="-122"/>
              <a:cs typeface="Inter" pitchFamily="34" charset="-120"/>
            </a:endParaRPr>
          </a:p>
          <a:p>
            <a:pPr>
              <a:lnSpc>
                <a:spcPct val="133000"/>
              </a:lnSpc>
            </a:pPr>
            <a:r>
              <a:rPr lang="en-US" sz="1000" kern="0" spc="-22" dirty="0">
                <a:solidFill>
                  <a:srgbClr val="272525"/>
                </a:solidFill>
                <a:latin typeface="Inter" pitchFamily="34" charset="0"/>
                <a:ea typeface="Inter" pitchFamily="34" charset="-122"/>
                <a:cs typeface="Inter" pitchFamily="34" charset="-120"/>
              </a:rPr>
              <a:t>P.Srija-2510040083</a:t>
            </a:r>
          </a:p>
          <a:p>
            <a:pPr>
              <a:lnSpc>
                <a:spcPct val="133000"/>
              </a:lnSpc>
            </a:pPr>
            <a:r>
              <a:rPr lang="en-US" sz="1000" kern="0" spc="-22" dirty="0">
                <a:solidFill>
                  <a:srgbClr val="272525"/>
                </a:solidFill>
                <a:latin typeface="Inter"/>
                <a:ea typeface="Inter"/>
                <a:cs typeface="Inter" pitchFamily="34" charset="-120"/>
              </a:rPr>
              <a:t>Sania Khan-2510040070</a:t>
            </a:r>
            <a:endParaRPr lang="en-US" sz="1000" kern="0" spc="-22" dirty="0">
              <a:solidFill>
                <a:srgbClr val="272525"/>
              </a:solidFill>
              <a:latin typeface="Inter" pitchFamily="34" charset="0"/>
              <a:ea typeface="Inter" pitchFamily="34" charset="-122"/>
              <a:cs typeface="Inter" pitchFamily="34" charset="-120"/>
            </a:endParaRPr>
          </a:p>
          <a:p>
            <a:pPr>
              <a:lnSpc>
                <a:spcPct val="133000"/>
              </a:lnSpc>
            </a:pPr>
            <a:r>
              <a:rPr lang="en-US" sz="1000" kern="0" spc="-22" dirty="0">
                <a:solidFill>
                  <a:srgbClr val="272525"/>
                </a:solidFill>
                <a:latin typeface="Inter" pitchFamily="34" charset="0"/>
                <a:ea typeface="Inter" pitchFamily="34" charset="-122"/>
                <a:cs typeface="Inter" pitchFamily="34" charset="-120"/>
              </a:rPr>
              <a:t>K.Sravya-2510040109</a:t>
            </a:r>
          </a:p>
          <a:p>
            <a:pPr>
              <a:lnSpc>
                <a:spcPct val="133000"/>
              </a:lnSpc>
            </a:pPr>
            <a:r>
              <a:rPr lang="en-US" sz="1000" kern="0" spc="-22" dirty="0">
                <a:solidFill>
                  <a:srgbClr val="272525"/>
                </a:solidFill>
                <a:latin typeface="Inter" pitchFamily="34" charset="0"/>
                <a:ea typeface="Inter" pitchFamily="34" charset="-122"/>
                <a:cs typeface="Inter" pitchFamily="34" charset="-120"/>
              </a:rPr>
              <a:t>B.Gowri-2510040120</a:t>
            </a:r>
          </a:p>
          <a:p>
            <a:pPr>
              <a:lnSpc>
                <a:spcPct val="133000"/>
              </a:lnSpc>
            </a:pPr>
            <a:endParaRPr lang="en-US" sz="1000" kern="0" spc="-22" dirty="0">
              <a:solidFill>
                <a:srgbClr val="272525"/>
              </a:solidFill>
              <a:latin typeface="Inter" pitchFamily="34" charset="0"/>
              <a:ea typeface="Inter" pitchFamily="34" charset="-122"/>
              <a:cs typeface="Inter" pitchFamily="34" charset="-120"/>
            </a:endParaRPr>
          </a:p>
          <a:p>
            <a:pPr>
              <a:lnSpc>
                <a:spcPct val="133000"/>
              </a:lnSpc>
            </a:pPr>
            <a:r>
              <a:rPr lang="en-US" sz="1000" kern="0" spc="-22" dirty="0">
                <a:solidFill>
                  <a:srgbClr val="272525"/>
                </a:solidFill>
                <a:latin typeface="Inter" pitchFamily="34" charset="0"/>
                <a:ea typeface="Inter" pitchFamily="34" charset="-122"/>
              </a:rPr>
              <a:t>                                                                                   </a:t>
            </a:r>
            <a:endParaRPr lang="en-IN"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57982"/>
            <a:ext cx="4722763" cy="354360"/>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Why this matters</a:t>
            </a:r>
            <a:endParaRPr lang="en-US" sz="2200" dirty="0"/>
          </a:p>
        </p:txBody>
      </p:sp>
      <p:sp>
        <p:nvSpPr>
          <p:cNvPr id="4" name="Text 1"/>
          <p:cNvSpPr/>
          <p:nvPr/>
        </p:nvSpPr>
        <p:spPr>
          <a:xfrm>
            <a:off x="496119" y="1924943"/>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Safe drinking water is essential, yet many rural communities lack regular testing. Contamination often goes unnoticed until people fall ill. AquaWatch provides continuous monitoring so problems are detected early and action can be taken before outbreaks occur.</a:t>
            </a:r>
            <a:endParaRPr lang="en-US" sz="1100" dirty="0"/>
          </a:p>
        </p:txBody>
      </p:sp>
      <p:sp>
        <p:nvSpPr>
          <p:cNvPr id="5" name="Shape 2"/>
          <p:cNvSpPr/>
          <p:nvPr/>
        </p:nvSpPr>
        <p:spPr>
          <a:xfrm>
            <a:off x="496119" y="2991669"/>
            <a:ext cx="4722763" cy="793775"/>
          </a:xfrm>
          <a:prstGeom prst="roundRect">
            <a:avLst>
              <a:gd name="adj" fmla="val 7501"/>
            </a:avLst>
          </a:prstGeom>
          <a:solidFill>
            <a:srgbClr val="DADBF1"/>
          </a:solidFill>
          <a:ln/>
        </p:spPr>
        <p:txBody>
          <a:bodyPr/>
          <a:lstStyle/>
          <a:p>
            <a:endParaRPr/>
          </a:p>
        </p:txBody>
      </p:sp>
      <p:pic>
        <p:nvPicPr>
          <p:cNvPr id="6" name="Image 1" descr="preencoded.png"/>
          <p:cNvPicPr>
            <a:picLocks noChangeAspect="1"/>
          </p:cNvPicPr>
          <p:nvPr/>
        </p:nvPicPr>
        <p:blipFill>
          <a:blip r:embed="rId4"/>
          <a:stretch>
            <a:fillRect/>
          </a:stretch>
        </p:blipFill>
        <p:spPr>
          <a:xfrm>
            <a:off x="637877" y="3192438"/>
            <a:ext cx="177180" cy="141759"/>
          </a:xfrm>
          <a:prstGeom prst="rect">
            <a:avLst/>
          </a:prstGeom>
        </p:spPr>
      </p:pic>
      <p:sp>
        <p:nvSpPr>
          <p:cNvPr id="7" name="Text 3"/>
          <p:cNvSpPr/>
          <p:nvPr/>
        </p:nvSpPr>
        <p:spPr>
          <a:xfrm>
            <a:off x="956816" y="3168848"/>
            <a:ext cx="4120307" cy="453628"/>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000000"/>
                </a:solidFill>
                <a:latin typeface="Inter" pitchFamily="34" charset="0"/>
                <a:ea typeface="Inter" pitchFamily="34" charset="-122"/>
                <a:cs typeface="Inter" pitchFamily="34" charset="-120"/>
              </a:rPr>
              <a:t>Designed for rural development officials and nontechnical stakeholders — clear, low‑cost, and actionable.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586285"/>
            <a:ext cx="3478039" cy="1970856"/>
          </a:xfrm>
          <a:prstGeom prst="rect">
            <a:avLst/>
          </a:prstGeom>
        </p:spPr>
      </p:pic>
      <p:sp>
        <p:nvSpPr>
          <p:cNvPr id="3" name="Text 0"/>
          <p:cNvSpPr/>
          <p:nvPr/>
        </p:nvSpPr>
        <p:spPr>
          <a:xfrm>
            <a:off x="4324796" y="1335063"/>
            <a:ext cx="4327773" cy="354360"/>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Problem Statement</a:t>
            </a:r>
            <a:endParaRPr lang="en-US" sz="2200" dirty="0"/>
          </a:p>
        </p:txBody>
      </p:sp>
      <p:sp>
        <p:nvSpPr>
          <p:cNvPr id="4" name="Text 1"/>
          <p:cNvSpPr/>
          <p:nvPr/>
        </p:nvSpPr>
        <p:spPr>
          <a:xfrm>
            <a:off x="4324796" y="1831181"/>
            <a:ext cx="4784973" cy="226814"/>
          </a:xfrm>
          <a:prstGeom prst="rect">
            <a:avLst/>
          </a:prstGeom>
          <a:noFill/>
          <a:ln/>
        </p:spPr>
        <p:txBody>
          <a:bodyPr wrap="none" lIns="0" tIns="0" rIns="0" bIns="0" rtlCol="0" anchor="t"/>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Rural areas face four core challenges:</a:t>
            </a:r>
            <a:endParaRPr lang="en-US" sz="1100" dirty="0"/>
          </a:p>
        </p:txBody>
      </p:sp>
      <p:sp>
        <p:nvSpPr>
          <p:cNvPr id="5" name="Text 2"/>
          <p:cNvSpPr/>
          <p:nvPr/>
        </p:nvSpPr>
        <p:spPr>
          <a:xfrm>
            <a:off x="4324796" y="2185541"/>
            <a:ext cx="432777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Limited access to testing laboratories</a:t>
            </a:r>
            <a:endParaRPr lang="en-US" sz="1100" dirty="0"/>
          </a:p>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Manual tests are expensive and infrequent</a:t>
            </a:r>
            <a:endParaRPr lang="en-US" sz="1100" dirty="0"/>
          </a:p>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Contamination is detected only after illness</a:t>
            </a:r>
            <a:endParaRPr lang="en-US" sz="1100" dirty="0"/>
          </a:p>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Authorities lack real‑time visibility</a:t>
            </a:r>
            <a:endParaRPr lang="en-US" sz="1100" dirty="0"/>
          </a:p>
        </p:txBody>
      </p:sp>
      <p:sp>
        <p:nvSpPr>
          <p:cNvPr id="6" name="Text 3"/>
          <p:cNvSpPr/>
          <p:nvPr/>
        </p:nvSpPr>
        <p:spPr>
          <a:xfrm>
            <a:off x="4324796" y="3369022"/>
            <a:ext cx="4327773" cy="453628"/>
          </a:xfrm>
          <a:prstGeom prst="rect">
            <a:avLst/>
          </a:prstGeom>
          <a:noFill/>
          <a:ln/>
        </p:spPr>
        <p:txBody>
          <a:bodyPr wrap="square" lIns="0" tIns="0" rIns="0" bIns="0" rtlCol="0" anchor="t">
            <a:normAutofit/>
          </a:bodyPr>
          <a:lstStyle/>
          <a:p>
            <a:pPr>
              <a:lnSpc>
                <a:spcPct val="133000"/>
              </a:lnSpc>
            </a:pPr>
            <a:r>
              <a:rPr lang="en-US" sz="1100" kern="0" spc="-22">
                <a:solidFill>
                  <a:srgbClr val="272525"/>
                </a:solidFill>
                <a:latin typeface="Inter"/>
                <a:ea typeface="Inter"/>
                <a:cs typeface="Inter" pitchFamily="34" charset="-120"/>
              </a:rPr>
              <a:t>Impact : higher waterborne disease rates, delayed responses, and </a:t>
            </a:r>
            <a:r>
              <a:rPr lang="en-US" sz="1100" kern="0" spc="-22" dirty="0">
                <a:solidFill>
                  <a:srgbClr val="272525"/>
                </a:solidFill>
                <a:latin typeface="Inter"/>
                <a:ea typeface="Inter"/>
                <a:cs typeface="Inter" pitchFamily="34" charset="-120"/>
              </a:rPr>
              <a:t>rising healthcare costs.</a:t>
            </a:r>
            <a:endParaRPr lang="en-US" sz="1100" dirty="0">
              <a:latin typeface="Inter"/>
              <a:ea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27583"/>
            <a:ext cx="4722763" cy="310083"/>
          </a:xfrm>
          <a:prstGeom prst="rect">
            <a:avLst/>
          </a:prstGeom>
          <a:noFill/>
          <a:ln/>
        </p:spPr>
        <p:txBody>
          <a:bodyPr wrap="none" lIns="0" tIns="0" rIns="0" bIns="0" rtlCol="0" anchor="t"/>
          <a:lstStyle/>
          <a:p>
            <a:pPr marL="0" indent="0" algn="l">
              <a:lnSpc>
                <a:spcPct val="104000"/>
              </a:lnSpc>
              <a:buNone/>
            </a:pPr>
            <a:r>
              <a:rPr lang="en-US" sz="1950" b="1" kern="0" spc="-59" dirty="0">
                <a:solidFill>
                  <a:srgbClr val="000000"/>
                </a:solidFill>
                <a:latin typeface="Inter Bold" pitchFamily="34" charset="0"/>
                <a:ea typeface="Inter Bold" pitchFamily="34" charset="-122"/>
                <a:cs typeface="Inter Bold" pitchFamily="34" charset="-120"/>
              </a:rPr>
              <a:t>Proposed Solution — AquaWatch</a:t>
            </a:r>
            <a:endParaRPr lang="en-US" sz="1950" dirty="0"/>
          </a:p>
        </p:txBody>
      </p:sp>
      <p:sp>
        <p:nvSpPr>
          <p:cNvPr id="4" name="Text 1"/>
          <p:cNvSpPr/>
          <p:nvPr/>
        </p:nvSpPr>
        <p:spPr>
          <a:xfrm>
            <a:off x="3925119" y="900410"/>
            <a:ext cx="4722763" cy="558105"/>
          </a:xfrm>
          <a:prstGeom prst="rect">
            <a:avLst/>
          </a:prstGeom>
          <a:noFill/>
          <a:ln/>
        </p:spPr>
        <p:txBody>
          <a:bodyPr wrap="square" lIns="0" tIns="0" rIns="0" bIns="0" rtlCol="0" anchor="t">
            <a:normAutofit/>
          </a:bodyPr>
          <a:lstStyle/>
          <a:p>
            <a:pPr marL="0" indent="0" algn="l">
              <a:lnSpc>
                <a:spcPct val="125000"/>
              </a:lnSpc>
              <a:buNone/>
            </a:pPr>
            <a:r>
              <a:rPr lang="en-US" sz="950" kern="0" spc="-20" dirty="0">
                <a:solidFill>
                  <a:srgbClr val="272525"/>
                </a:solidFill>
                <a:latin typeface="Inter" pitchFamily="34" charset="0"/>
                <a:ea typeface="Inter" pitchFamily="34" charset="-122"/>
                <a:cs typeface="Inter" pitchFamily="34" charset="-120"/>
              </a:rPr>
              <a:t>An affordable IoT system that continuously measures pH, turbidity, and TDS, streams data to the cloud, visualizes readings on a live dashboard, and sends automatic alerts (SMS/email/local buzzer) when thresholds are exceeded.</a:t>
            </a:r>
            <a:endParaRPr lang="en-US" sz="950" dirty="0"/>
          </a:p>
        </p:txBody>
      </p:sp>
      <p:sp>
        <p:nvSpPr>
          <p:cNvPr id="5" name="Shape 2"/>
          <p:cNvSpPr/>
          <p:nvPr/>
        </p:nvSpPr>
        <p:spPr>
          <a:xfrm>
            <a:off x="3925119" y="1580555"/>
            <a:ext cx="4722763" cy="702469"/>
          </a:xfrm>
          <a:prstGeom prst="roundRect">
            <a:avLst>
              <a:gd name="adj" fmla="val 7417"/>
            </a:avLst>
          </a:prstGeom>
          <a:solidFill>
            <a:srgbClr val="DADBF1"/>
          </a:solidFill>
          <a:ln w="4763">
            <a:solidFill>
              <a:srgbClr val="C0C1D7"/>
            </a:solidFill>
            <a:prstDash val="solid"/>
          </a:ln>
        </p:spPr>
        <p:txBody>
          <a:bodyPr/>
          <a:lstStyle/>
          <a:p>
            <a:endParaRPr/>
          </a:p>
        </p:txBody>
      </p:sp>
      <p:sp>
        <p:nvSpPr>
          <p:cNvPr id="6" name="Text 3"/>
          <p:cNvSpPr/>
          <p:nvPr/>
        </p:nvSpPr>
        <p:spPr>
          <a:xfrm>
            <a:off x="4053855" y="1709291"/>
            <a:ext cx="4465290" cy="193849"/>
          </a:xfrm>
          <a:prstGeom prst="rect">
            <a:avLst/>
          </a:prstGeom>
          <a:noFill/>
          <a:ln/>
        </p:spPr>
        <p:txBody>
          <a:bodyPr wrap="none" lIns="0" tIns="0" rIns="0" bIns="0" rtlCol="0" anchor="t"/>
          <a:lstStyle/>
          <a:p>
            <a:pPr marL="0" indent="0" algn="l">
              <a:lnSpc>
                <a:spcPct val="104000"/>
              </a:lnSpc>
              <a:buNone/>
            </a:pPr>
            <a:r>
              <a:rPr lang="en-US" sz="1200" b="1" kern="0" spc="-37" dirty="0">
                <a:solidFill>
                  <a:srgbClr val="272525"/>
                </a:solidFill>
                <a:latin typeface="Inter Bold" pitchFamily="34" charset="0"/>
                <a:ea typeface="Inter Bold" pitchFamily="34" charset="-122"/>
                <a:cs typeface="Inter Bold" pitchFamily="34" charset="-120"/>
              </a:rPr>
              <a:t>Continuous Monitoring</a:t>
            </a:r>
            <a:endParaRPr lang="en-US" sz="1200" dirty="0"/>
          </a:p>
        </p:txBody>
      </p:sp>
      <p:sp>
        <p:nvSpPr>
          <p:cNvPr id="7" name="Text 4"/>
          <p:cNvSpPr/>
          <p:nvPr/>
        </p:nvSpPr>
        <p:spPr>
          <a:xfrm>
            <a:off x="4053855" y="1968252"/>
            <a:ext cx="4465290" cy="186035"/>
          </a:xfrm>
          <a:prstGeom prst="rect">
            <a:avLst/>
          </a:prstGeom>
          <a:noFill/>
          <a:ln/>
        </p:spPr>
        <p:txBody>
          <a:bodyPr wrap="none" lIns="0" tIns="0" rIns="0" bIns="0" rtlCol="0" anchor="t"/>
          <a:lstStyle/>
          <a:p>
            <a:pPr marL="0" indent="0" algn="l">
              <a:lnSpc>
                <a:spcPct val="125000"/>
              </a:lnSpc>
              <a:buNone/>
            </a:pPr>
            <a:r>
              <a:rPr lang="en-US" sz="950" kern="0" spc="-20" dirty="0">
                <a:solidFill>
                  <a:srgbClr val="272525"/>
                </a:solidFill>
                <a:latin typeface="Inter" pitchFamily="34" charset="0"/>
                <a:ea typeface="Inter" pitchFamily="34" charset="-122"/>
                <a:cs typeface="Inter" pitchFamily="34" charset="-120"/>
              </a:rPr>
              <a:t>Second‑by‑second readings for early detection</a:t>
            </a:r>
            <a:endParaRPr lang="en-US" sz="950" dirty="0"/>
          </a:p>
        </p:txBody>
      </p:sp>
      <p:sp>
        <p:nvSpPr>
          <p:cNvPr id="8" name="Shape 5"/>
          <p:cNvSpPr/>
          <p:nvPr/>
        </p:nvSpPr>
        <p:spPr>
          <a:xfrm>
            <a:off x="3925119" y="2391519"/>
            <a:ext cx="4722763" cy="702469"/>
          </a:xfrm>
          <a:prstGeom prst="roundRect">
            <a:avLst>
              <a:gd name="adj" fmla="val 7417"/>
            </a:avLst>
          </a:prstGeom>
          <a:solidFill>
            <a:srgbClr val="DADBF1"/>
          </a:solidFill>
          <a:ln w="4763">
            <a:solidFill>
              <a:srgbClr val="C0C1D7"/>
            </a:solidFill>
            <a:prstDash val="solid"/>
          </a:ln>
        </p:spPr>
        <p:txBody>
          <a:bodyPr/>
          <a:lstStyle/>
          <a:p>
            <a:endParaRPr/>
          </a:p>
        </p:txBody>
      </p:sp>
      <p:sp>
        <p:nvSpPr>
          <p:cNvPr id="9" name="Text 6"/>
          <p:cNvSpPr/>
          <p:nvPr/>
        </p:nvSpPr>
        <p:spPr>
          <a:xfrm>
            <a:off x="4053855" y="2520255"/>
            <a:ext cx="4465290" cy="193849"/>
          </a:xfrm>
          <a:prstGeom prst="rect">
            <a:avLst/>
          </a:prstGeom>
          <a:noFill/>
          <a:ln/>
        </p:spPr>
        <p:txBody>
          <a:bodyPr wrap="none" lIns="0" tIns="0" rIns="0" bIns="0" rtlCol="0" anchor="t"/>
          <a:lstStyle/>
          <a:p>
            <a:pPr marL="0" indent="0" algn="l">
              <a:lnSpc>
                <a:spcPct val="104000"/>
              </a:lnSpc>
              <a:buNone/>
            </a:pPr>
            <a:r>
              <a:rPr lang="en-US" sz="1200" b="1" kern="0" spc="-37" dirty="0">
                <a:solidFill>
                  <a:srgbClr val="272525"/>
                </a:solidFill>
                <a:latin typeface="Inter Bold" pitchFamily="34" charset="0"/>
                <a:ea typeface="Inter Bold" pitchFamily="34" charset="-122"/>
                <a:cs typeface="Inter Bold" pitchFamily="34" charset="-120"/>
              </a:rPr>
              <a:t>Real‑time Dashboard</a:t>
            </a:r>
            <a:endParaRPr lang="en-US" sz="1200" dirty="0"/>
          </a:p>
        </p:txBody>
      </p:sp>
      <p:sp>
        <p:nvSpPr>
          <p:cNvPr id="10" name="Text 7"/>
          <p:cNvSpPr/>
          <p:nvPr/>
        </p:nvSpPr>
        <p:spPr>
          <a:xfrm>
            <a:off x="4053855" y="2779216"/>
            <a:ext cx="4465290" cy="186035"/>
          </a:xfrm>
          <a:prstGeom prst="rect">
            <a:avLst/>
          </a:prstGeom>
          <a:noFill/>
          <a:ln/>
        </p:spPr>
        <p:txBody>
          <a:bodyPr wrap="none" lIns="0" tIns="0" rIns="0" bIns="0" rtlCol="0" anchor="t"/>
          <a:lstStyle/>
          <a:p>
            <a:pPr marL="0" indent="0" algn="l">
              <a:lnSpc>
                <a:spcPct val="125000"/>
              </a:lnSpc>
              <a:buNone/>
            </a:pPr>
            <a:r>
              <a:rPr lang="en-US" sz="950" kern="0" spc="-20" dirty="0">
                <a:solidFill>
                  <a:srgbClr val="272525"/>
                </a:solidFill>
                <a:latin typeface="Inter" pitchFamily="34" charset="0"/>
                <a:ea typeface="Inter" pitchFamily="34" charset="-122"/>
                <a:cs typeface="Inter" pitchFamily="34" charset="-120"/>
              </a:rPr>
              <a:t>Accessible remotely for officials and caretakers</a:t>
            </a:r>
            <a:endParaRPr lang="en-US" sz="950" dirty="0"/>
          </a:p>
        </p:txBody>
      </p:sp>
      <p:sp>
        <p:nvSpPr>
          <p:cNvPr id="11" name="Shape 8"/>
          <p:cNvSpPr/>
          <p:nvPr/>
        </p:nvSpPr>
        <p:spPr>
          <a:xfrm>
            <a:off x="3925119" y="3202484"/>
            <a:ext cx="4722763" cy="702469"/>
          </a:xfrm>
          <a:prstGeom prst="roundRect">
            <a:avLst>
              <a:gd name="adj" fmla="val 7417"/>
            </a:avLst>
          </a:prstGeom>
          <a:solidFill>
            <a:srgbClr val="DADBF1"/>
          </a:solidFill>
          <a:ln w="4763">
            <a:solidFill>
              <a:srgbClr val="C0C1D7"/>
            </a:solidFill>
            <a:prstDash val="solid"/>
          </a:ln>
        </p:spPr>
        <p:txBody>
          <a:bodyPr/>
          <a:lstStyle/>
          <a:p>
            <a:endParaRPr/>
          </a:p>
        </p:txBody>
      </p:sp>
      <p:sp>
        <p:nvSpPr>
          <p:cNvPr id="12" name="Text 9"/>
          <p:cNvSpPr/>
          <p:nvPr/>
        </p:nvSpPr>
        <p:spPr>
          <a:xfrm>
            <a:off x="4053855" y="3331220"/>
            <a:ext cx="4465290" cy="193849"/>
          </a:xfrm>
          <a:prstGeom prst="rect">
            <a:avLst/>
          </a:prstGeom>
          <a:noFill/>
          <a:ln/>
        </p:spPr>
        <p:txBody>
          <a:bodyPr wrap="none" lIns="0" tIns="0" rIns="0" bIns="0" rtlCol="0" anchor="t"/>
          <a:lstStyle/>
          <a:p>
            <a:pPr marL="0" indent="0" algn="l">
              <a:lnSpc>
                <a:spcPct val="104000"/>
              </a:lnSpc>
              <a:buNone/>
            </a:pPr>
            <a:r>
              <a:rPr lang="en-US" sz="1200" b="1" kern="0" spc="-37" dirty="0">
                <a:solidFill>
                  <a:srgbClr val="272525"/>
                </a:solidFill>
                <a:latin typeface="Inter Bold" pitchFamily="34" charset="0"/>
                <a:ea typeface="Inter Bold" pitchFamily="34" charset="-122"/>
                <a:cs typeface="Inter Bold" pitchFamily="34" charset="-120"/>
              </a:rPr>
              <a:t>Automatic Alerts</a:t>
            </a:r>
            <a:endParaRPr lang="en-US" sz="1200" dirty="0"/>
          </a:p>
        </p:txBody>
      </p:sp>
      <p:sp>
        <p:nvSpPr>
          <p:cNvPr id="13" name="Text 10"/>
          <p:cNvSpPr/>
          <p:nvPr/>
        </p:nvSpPr>
        <p:spPr>
          <a:xfrm>
            <a:off x="4053855" y="3590181"/>
            <a:ext cx="4465290" cy="186035"/>
          </a:xfrm>
          <a:prstGeom prst="rect">
            <a:avLst/>
          </a:prstGeom>
          <a:noFill/>
          <a:ln/>
        </p:spPr>
        <p:txBody>
          <a:bodyPr wrap="none" lIns="0" tIns="0" rIns="0" bIns="0" rtlCol="0" anchor="t"/>
          <a:lstStyle/>
          <a:p>
            <a:pPr marL="0" indent="0" algn="l">
              <a:lnSpc>
                <a:spcPct val="125000"/>
              </a:lnSpc>
              <a:buNone/>
            </a:pPr>
            <a:r>
              <a:rPr lang="en-US" sz="950" kern="0" spc="-20" dirty="0">
                <a:solidFill>
                  <a:srgbClr val="272525"/>
                </a:solidFill>
                <a:latin typeface="Inter" pitchFamily="34" charset="0"/>
                <a:ea typeface="Inter" pitchFamily="34" charset="-122"/>
                <a:cs typeface="Inter" pitchFamily="34" charset="-120"/>
              </a:rPr>
              <a:t>SMS, email, and optional local buzzer notifications</a:t>
            </a:r>
            <a:endParaRPr lang="en-US" sz="950" dirty="0"/>
          </a:p>
        </p:txBody>
      </p:sp>
      <p:sp>
        <p:nvSpPr>
          <p:cNvPr id="14" name="Shape 11"/>
          <p:cNvSpPr/>
          <p:nvPr/>
        </p:nvSpPr>
        <p:spPr>
          <a:xfrm>
            <a:off x="3925119" y="4013448"/>
            <a:ext cx="4722763" cy="702469"/>
          </a:xfrm>
          <a:prstGeom prst="roundRect">
            <a:avLst>
              <a:gd name="adj" fmla="val 7417"/>
            </a:avLst>
          </a:prstGeom>
          <a:solidFill>
            <a:srgbClr val="DADBF1"/>
          </a:solidFill>
          <a:ln w="4763">
            <a:solidFill>
              <a:srgbClr val="C0C1D7"/>
            </a:solidFill>
            <a:prstDash val="solid"/>
          </a:ln>
        </p:spPr>
        <p:txBody>
          <a:bodyPr/>
          <a:lstStyle/>
          <a:p>
            <a:endParaRPr/>
          </a:p>
        </p:txBody>
      </p:sp>
      <p:sp>
        <p:nvSpPr>
          <p:cNvPr id="15" name="Text 12"/>
          <p:cNvSpPr/>
          <p:nvPr/>
        </p:nvSpPr>
        <p:spPr>
          <a:xfrm>
            <a:off x="4053855" y="4142184"/>
            <a:ext cx="4465290" cy="193849"/>
          </a:xfrm>
          <a:prstGeom prst="rect">
            <a:avLst/>
          </a:prstGeom>
          <a:noFill/>
          <a:ln/>
        </p:spPr>
        <p:txBody>
          <a:bodyPr wrap="none" lIns="0" tIns="0" rIns="0" bIns="0" rtlCol="0" anchor="t"/>
          <a:lstStyle/>
          <a:p>
            <a:pPr marL="0" indent="0" algn="l">
              <a:lnSpc>
                <a:spcPct val="104000"/>
              </a:lnSpc>
              <a:buNone/>
            </a:pPr>
            <a:r>
              <a:rPr lang="en-US" sz="1200" b="1" kern="0" spc="-37" dirty="0">
                <a:solidFill>
                  <a:srgbClr val="272525"/>
                </a:solidFill>
                <a:latin typeface="Inter Bold" pitchFamily="34" charset="0"/>
                <a:ea typeface="Inter Bold" pitchFamily="34" charset="-122"/>
                <a:cs typeface="Inter Bold" pitchFamily="34" charset="-120"/>
              </a:rPr>
              <a:t>Low Cost</a:t>
            </a:r>
            <a:endParaRPr lang="en-US" sz="1200" dirty="0"/>
          </a:p>
        </p:txBody>
      </p:sp>
      <p:sp>
        <p:nvSpPr>
          <p:cNvPr id="16" name="Text 13"/>
          <p:cNvSpPr/>
          <p:nvPr/>
        </p:nvSpPr>
        <p:spPr>
          <a:xfrm>
            <a:off x="4053855" y="4401145"/>
            <a:ext cx="4465290" cy="186035"/>
          </a:xfrm>
          <a:prstGeom prst="rect">
            <a:avLst/>
          </a:prstGeom>
          <a:noFill/>
          <a:ln/>
        </p:spPr>
        <p:txBody>
          <a:bodyPr wrap="none" lIns="0" tIns="0" rIns="0" bIns="0" rtlCol="0" anchor="t"/>
          <a:lstStyle/>
          <a:p>
            <a:pPr marL="0" indent="0" algn="l">
              <a:lnSpc>
                <a:spcPct val="125000"/>
              </a:lnSpc>
              <a:buNone/>
            </a:pPr>
            <a:r>
              <a:rPr lang="en-US" sz="950" kern="0" spc="-20" dirty="0">
                <a:solidFill>
                  <a:srgbClr val="272525"/>
                </a:solidFill>
                <a:latin typeface="Inter" pitchFamily="34" charset="0"/>
                <a:ea typeface="Inter" pitchFamily="34" charset="-122"/>
                <a:cs typeface="Inter" pitchFamily="34" charset="-120"/>
              </a:rPr>
              <a:t>Uses affordable sensors and ESP32 for wide deployment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7222"/>
            <a:ext cx="8151763" cy="276895"/>
          </a:xfrm>
          <a:prstGeom prst="rect">
            <a:avLst/>
          </a:prstGeom>
          <a:noFill/>
          <a:ln/>
        </p:spPr>
        <p:txBody>
          <a:bodyPr wrap="none" lIns="0" tIns="0" rIns="0" bIns="0" rtlCol="0" anchor="t"/>
          <a:lstStyle/>
          <a:p>
            <a:pPr marL="0" indent="0" algn="l">
              <a:lnSpc>
                <a:spcPct val="104000"/>
              </a:lnSpc>
              <a:buNone/>
            </a:pPr>
            <a:r>
              <a:rPr lang="en-US" sz="1700" b="1" kern="0" spc="-52" dirty="0">
                <a:solidFill>
                  <a:srgbClr val="000000"/>
                </a:solidFill>
                <a:latin typeface="Inter Bold" pitchFamily="34" charset="0"/>
                <a:ea typeface="Inter Bold" pitchFamily="34" charset="-122"/>
                <a:cs typeface="Inter Bold" pitchFamily="34" charset="-120"/>
              </a:rPr>
              <a:t>System Architecture</a:t>
            </a:r>
            <a:endParaRPr lang="en-US" sz="1700" dirty="0"/>
          </a:p>
        </p:txBody>
      </p:sp>
      <p:pic>
        <p:nvPicPr>
          <p:cNvPr id="3" name="Image 0" descr="preencoded.png"/>
          <p:cNvPicPr>
            <a:picLocks noChangeAspect="1"/>
          </p:cNvPicPr>
          <p:nvPr/>
        </p:nvPicPr>
        <p:blipFill>
          <a:blip r:embed="rId3"/>
          <a:stretch>
            <a:fillRect/>
          </a:stretch>
        </p:blipFill>
        <p:spPr>
          <a:xfrm>
            <a:off x="529679" y="847130"/>
            <a:ext cx="8084567" cy="3486224"/>
          </a:xfrm>
          <a:prstGeom prst="rect">
            <a:avLst/>
          </a:prstGeom>
        </p:spPr>
      </p:pic>
      <p:sp>
        <p:nvSpPr>
          <p:cNvPr id="4" name="Text 1"/>
          <p:cNvSpPr/>
          <p:nvPr/>
        </p:nvSpPr>
        <p:spPr>
          <a:xfrm>
            <a:off x="1073714" y="3672235"/>
            <a:ext cx="1834102" cy="229263"/>
          </a:xfrm>
          <a:prstGeom prst="rect">
            <a:avLst/>
          </a:prstGeom>
          <a:noFill/>
          <a:ln/>
        </p:spPr>
        <p:txBody>
          <a:bodyPr wrap="none" lIns="0" tIns="0" rIns="0" bIns="0" rtlCol="0" anchor="t"/>
          <a:lstStyle/>
          <a:p>
            <a:pPr marL="0" indent="0" algn="l">
              <a:lnSpc>
                <a:spcPct val="104000"/>
              </a:lnSpc>
              <a:buNone/>
            </a:pPr>
            <a:r>
              <a:rPr lang="en-US" sz="1400" b="1" kern="0" spc="-43" dirty="0">
                <a:solidFill>
                  <a:srgbClr val="FFFFFF"/>
                </a:solidFill>
                <a:latin typeface="Inter Bold" pitchFamily="34" charset="0"/>
                <a:ea typeface="Inter Bold" pitchFamily="34" charset="-122"/>
                <a:cs typeface="Inter Bold" pitchFamily="34" charset="-120"/>
              </a:rPr>
              <a:t>Alerts &amp; Dashboard</a:t>
            </a:r>
            <a:endParaRPr lang="en-US" sz="1400" dirty="0"/>
          </a:p>
        </p:txBody>
      </p:sp>
      <p:sp>
        <p:nvSpPr>
          <p:cNvPr id="5" name="Text 2"/>
          <p:cNvSpPr/>
          <p:nvPr/>
        </p:nvSpPr>
        <p:spPr>
          <a:xfrm>
            <a:off x="1073714" y="2865231"/>
            <a:ext cx="1834102" cy="229263"/>
          </a:xfrm>
          <a:prstGeom prst="rect">
            <a:avLst/>
          </a:prstGeom>
          <a:noFill/>
          <a:ln/>
        </p:spPr>
        <p:txBody>
          <a:bodyPr wrap="none" lIns="0" tIns="0" rIns="0" bIns="0" rtlCol="0" anchor="t"/>
          <a:lstStyle/>
          <a:p>
            <a:pPr marL="0" indent="0" algn="l">
              <a:lnSpc>
                <a:spcPct val="104000"/>
              </a:lnSpc>
              <a:buNone/>
            </a:pPr>
            <a:r>
              <a:rPr lang="en-US" sz="1400" b="1" kern="0" spc="-43" dirty="0">
                <a:solidFill>
                  <a:srgbClr val="FFFFFF"/>
                </a:solidFill>
                <a:latin typeface="Inter Bold" pitchFamily="34" charset="0"/>
                <a:ea typeface="Inter Bold" pitchFamily="34" charset="-122"/>
                <a:cs typeface="Inter Bold" pitchFamily="34" charset="-120"/>
              </a:rPr>
              <a:t>Cloud Upload</a:t>
            </a:r>
            <a:endParaRPr lang="en-US" sz="1400" dirty="0"/>
          </a:p>
        </p:txBody>
      </p:sp>
      <p:sp>
        <p:nvSpPr>
          <p:cNvPr id="6" name="Text 3"/>
          <p:cNvSpPr/>
          <p:nvPr/>
        </p:nvSpPr>
        <p:spPr>
          <a:xfrm>
            <a:off x="1073714" y="2066378"/>
            <a:ext cx="1834102" cy="229263"/>
          </a:xfrm>
          <a:prstGeom prst="rect">
            <a:avLst/>
          </a:prstGeom>
          <a:noFill/>
          <a:ln/>
        </p:spPr>
        <p:txBody>
          <a:bodyPr wrap="none" lIns="0" tIns="0" rIns="0" bIns="0" rtlCol="0" anchor="t"/>
          <a:lstStyle/>
          <a:p>
            <a:pPr marL="0" indent="0" algn="l">
              <a:lnSpc>
                <a:spcPct val="104000"/>
              </a:lnSpc>
              <a:buNone/>
            </a:pPr>
            <a:r>
              <a:rPr lang="en-US" sz="1400" b="1" kern="0" spc="-43" dirty="0">
                <a:solidFill>
                  <a:srgbClr val="FFFFFF"/>
                </a:solidFill>
                <a:latin typeface="Inter Bold" pitchFamily="34" charset="0"/>
                <a:ea typeface="Inter Bold" pitchFamily="34" charset="-122"/>
                <a:cs typeface="Inter Bold" pitchFamily="34" charset="-120"/>
              </a:rPr>
              <a:t>Local Processing</a:t>
            </a:r>
            <a:endParaRPr lang="en-US" sz="1400" dirty="0"/>
          </a:p>
        </p:txBody>
      </p:sp>
      <p:sp>
        <p:nvSpPr>
          <p:cNvPr id="7" name="Text 4"/>
          <p:cNvSpPr/>
          <p:nvPr/>
        </p:nvSpPr>
        <p:spPr>
          <a:xfrm>
            <a:off x="1073714" y="1259373"/>
            <a:ext cx="1834102" cy="229263"/>
          </a:xfrm>
          <a:prstGeom prst="rect">
            <a:avLst/>
          </a:prstGeom>
          <a:noFill/>
          <a:ln/>
        </p:spPr>
        <p:txBody>
          <a:bodyPr wrap="none" lIns="0" tIns="0" rIns="0" bIns="0" rtlCol="0" anchor="t"/>
          <a:lstStyle/>
          <a:p>
            <a:pPr marL="0" indent="0" algn="l">
              <a:lnSpc>
                <a:spcPct val="104000"/>
              </a:lnSpc>
              <a:buNone/>
            </a:pPr>
            <a:r>
              <a:rPr lang="en-US" sz="1400" b="1" kern="0" spc="-43" dirty="0">
                <a:solidFill>
                  <a:srgbClr val="FFFFFF"/>
                </a:solidFill>
                <a:latin typeface="Inter Bold" pitchFamily="34" charset="0"/>
                <a:ea typeface="Inter Bold" pitchFamily="34" charset="-122"/>
                <a:cs typeface="Inter Bold" pitchFamily="34" charset="-120"/>
              </a:rPr>
              <a:t>Sensing</a:t>
            </a:r>
            <a:endParaRPr lang="en-US" sz="1400" dirty="0"/>
          </a:p>
        </p:txBody>
      </p:sp>
      <p:sp>
        <p:nvSpPr>
          <p:cNvPr id="8" name="Text 5"/>
          <p:cNvSpPr/>
          <p:nvPr/>
        </p:nvSpPr>
        <p:spPr>
          <a:xfrm>
            <a:off x="496119" y="4430688"/>
            <a:ext cx="8151763" cy="315516"/>
          </a:xfrm>
          <a:prstGeom prst="rect">
            <a:avLst/>
          </a:prstGeom>
          <a:noFill/>
          <a:ln/>
        </p:spPr>
        <p:txBody>
          <a:bodyPr wrap="square" lIns="0" tIns="0" rIns="0" bIns="0" rtlCol="0" anchor="t">
            <a:normAutofit/>
          </a:bodyPr>
          <a:lstStyle/>
          <a:p>
            <a:pPr>
              <a:lnSpc>
                <a:spcPct val="119000"/>
              </a:lnSpc>
            </a:pPr>
            <a:r>
              <a:rPr lang="en-US" sz="850" kern="0" spc="-17" dirty="0">
                <a:solidFill>
                  <a:srgbClr val="272525"/>
                </a:solidFill>
                <a:latin typeface="Inter" pitchFamily="34" charset="0"/>
                <a:ea typeface="Inter" pitchFamily="34" charset="-122"/>
                <a:cs typeface="Inter" pitchFamily="34" charset="-120"/>
              </a:rPr>
              <a:t>Steps: sensor capture → local processing on ESP32 → data published via MQTT → backend subscribes and bridges to WebSocket → dashboard updates in real time → automated alerts trigger when safe ranges are exceeded.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461269"/>
            <a:ext cx="3919165" cy="2220813"/>
          </a:xfrm>
          <a:prstGeom prst="rect">
            <a:avLst/>
          </a:prstGeom>
        </p:spPr>
      </p:pic>
      <p:sp>
        <p:nvSpPr>
          <p:cNvPr id="3" name="Text 0"/>
          <p:cNvSpPr/>
          <p:nvPr/>
        </p:nvSpPr>
        <p:spPr>
          <a:xfrm>
            <a:off x="4733479" y="548357"/>
            <a:ext cx="3919165" cy="321171"/>
          </a:xfrm>
          <a:prstGeom prst="rect">
            <a:avLst/>
          </a:prstGeom>
          <a:noFill/>
          <a:ln/>
        </p:spPr>
        <p:txBody>
          <a:bodyPr wrap="none" lIns="0" tIns="0" rIns="0" bIns="0" rtlCol="0" anchor="t"/>
          <a:lstStyle/>
          <a:p>
            <a:pPr marL="0" indent="0" algn="l">
              <a:lnSpc>
                <a:spcPct val="104000"/>
              </a:lnSpc>
              <a:buNone/>
            </a:pPr>
            <a:r>
              <a:rPr lang="en-US" sz="2000" b="1" kern="0" spc="-61" dirty="0">
                <a:solidFill>
                  <a:srgbClr val="000000"/>
                </a:solidFill>
                <a:latin typeface="Inter Bold" pitchFamily="34" charset="0"/>
                <a:ea typeface="Inter Bold" pitchFamily="34" charset="-122"/>
                <a:cs typeface="Inter Bold" pitchFamily="34" charset="-120"/>
              </a:rPr>
              <a:t>Hardware Components</a:t>
            </a:r>
            <a:endParaRPr lang="en-US" sz="2000" dirty="0"/>
          </a:p>
        </p:txBody>
      </p:sp>
      <p:sp>
        <p:nvSpPr>
          <p:cNvPr id="4" name="Shape 1"/>
          <p:cNvSpPr/>
          <p:nvPr/>
        </p:nvSpPr>
        <p:spPr>
          <a:xfrm>
            <a:off x="4733479" y="1000497"/>
            <a:ext cx="3919165" cy="3083347"/>
          </a:xfrm>
          <a:prstGeom prst="roundRect">
            <a:avLst>
              <a:gd name="adj" fmla="val 1750"/>
            </a:avLst>
          </a:prstGeom>
          <a:noFill/>
          <a:ln w="4763">
            <a:solidFill>
              <a:srgbClr val="000000">
                <a:alpha val="8000"/>
              </a:srgbClr>
            </a:solidFill>
            <a:prstDash val="solid"/>
          </a:ln>
        </p:spPr>
        <p:txBody>
          <a:bodyPr/>
          <a:lstStyle/>
          <a:p>
            <a:endParaRPr/>
          </a:p>
        </p:txBody>
      </p:sp>
      <p:sp>
        <p:nvSpPr>
          <p:cNvPr id="5" name="Shape 2"/>
          <p:cNvSpPr/>
          <p:nvPr/>
        </p:nvSpPr>
        <p:spPr>
          <a:xfrm>
            <a:off x="4733479" y="1352699"/>
            <a:ext cx="3919165" cy="8030"/>
          </a:xfrm>
          <a:prstGeom prst="rect">
            <a:avLst/>
          </a:prstGeom>
          <a:solidFill>
            <a:srgbClr val="000000">
              <a:alpha val="8000"/>
            </a:srgbClr>
          </a:solidFill>
          <a:ln/>
        </p:spPr>
        <p:txBody>
          <a:bodyPr/>
          <a:lstStyle/>
          <a:p>
            <a:endParaRPr/>
          </a:p>
        </p:txBody>
      </p:sp>
      <p:sp>
        <p:nvSpPr>
          <p:cNvPr id="6" name="Shape 3"/>
          <p:cNvSpPr/>
          <p:nvPr/>
        </p:nvSpPr>
        <p:spPr>
          <a:xfrm>
            <a:off x="4733479" y="1898452"/>
            <a:ext cx="3919165" cy="8030"/>
          </a:xfrm>
          <a:prstGeom prst="rect">
            <a:avLst/>
          </a:prstGeom>
          <a:solidFill>
            <a:srgbClr val="000000">
              <a:alpha val="8000"/>
            </a:srgbClr>
          </a:solidFill>
          <a:ln/>
        </p:spPr>
        <p:txBody>
          <a:bodyPr/>
          <a:lstStyle/>
          <a:p>
            <a:endParaRPr/>
          </a:p>
        </p:txBody>
      </p:sp>
      <p:sp>
        <p:nvSpPr>
          <p:cNvPr id="7" name="Shape 4"/>
          <p:cNvSpPr/>
          <p:nvPr/>
        </p:nvSpPr>
        <p:spPr>
          <a:xfrm>
            <a:off x="4733479" y="2444204"/>
            <a:ext cx="3919165" cy="8030"/>
          </a:xfrm>
          <a:prstGeom prst="rect">
            <a:avLst/>
          </a:prstGeom>
          <a:solidFill>
            <a:srgbClr val="000000">
              <a:alpha val="8000"/>
            </a:srgbClr>
          </a:solidFill>
          <a:ln/>
        </p:spPr>
        <p:txBody>
          <a:bodyPr/>
          <a:lstStyle/>
          <a:p>
            <a:endParaRPr/>
          </a:p>
        </p:txBody>
      </p:sp>
      <p:sp>
        <p:nvSpPr>
          <p:cNvPr id="8" name="Shape 5"/>
          <p:cNvSpPr/>
          <p:nvPr/>
        </p:nvSpPr>
        <p:spPr>
          <a:xfrm>
            <a:off x="4733479" y="2989957"/>
            <a:ext cx="3919165" cy="8030"/>
          </a:xfrm>
          <a:prstGeom prst="rect">
            <a:avLst/>
          </a:prstGeom>
          <a:solidFill>
            <a:srgbClr val="000000">
              <a:alpha val="8000"/>
            </a:srgbClr>
          </a:solidFill>
          <a:ln/>
        </p:spPr>
        <p:txBody>
          <a:bodyPr/>
          <a:lstStyle/>
          <a:p>
            <a:endParaRPr/>
          </a:p>
        </p:txBody>
      </p:sp>
      <p:sp>
        <p:nvSpPr>
          <p:cNvPr id="9" name="Shape 6"/>
          <p:cNvSpPr/>
          <p:nvPr/>
        </p:nvSpPr>
        <p:spPr>
          <a:xfrm>
            <a:off x="4733479" y="3535710"/>
            <a:ext cx="3919165" cy="8030"/>
          </a:xfrm>
          <a:prstGeom prst="rect">
            <a:avLst/>
          </a:prstGeom>
          <a:solidFill>
            <a:srgbClr val="000000">
              <a:alpha val="8000"/>
            </a:srgbClr>
          </a:solidFill>
          <a:ln/>
        </p:spPr>
        <p:txBody>
          <a:bodyPr/>
          <a:lstStyle/>
          <a:p>
            <a:endParaRPr/>
          </a:p>
        </p:txBody>
      </p:sp>
      <p:sp>
        <p:nvSpPr>
          <p:cNvPr id="10" name="Text 7"/>
          <p:cNvSpPr/>
          <p:nvPr/>
        </p:nvSpPr>
        <p:spPr>
          <a:xfrm>
            <a:off x="4866754" y="1079822"/>
            <a:ext cx="2155106" cy="195932"/>
          </a:xfrm>
          <a:prstGeom prst="rect">
            <a:avLst/>
          </a:prstGeom>
          <a:noFill/>
          <a:ln/>
        </p:spPr>
        <p:txBody>
          <a:bodyPr wrap="none" lIns="0" tIns="0" rIns="0" bIns="0" rtlCol="0" anchor="t"/>
          <a:lstStyle/>
          <a:p>
            <a:pPr marL="0" indent="0" algn="l">
              <a:lnSpc>
                <a:spcPct val="127000"/>
              </a:lnSpc>
              <a:buNone/>
            </a:pPr>
            <a:r>
              <a:rPr lang="en-US" sz="1000" b="1" kern="0" spc="-20" dirty="0">
                <a:solidFill>
                  <a:srgbClr val="272525"/>
                </a:solidFill>
                <a:latin typeface="Inter Bold" pitchFamily="34" charset="0"/>
                <a:ea typeface="Inter Bold" pitchFamily="34" charset="-122"/>
                <a:cs typeface="Inter Bold" pitchFamily="34" charset="-120"/>
              </a:rPr>
              <a:t>Component</a:t>
            </a:r>
            <a:endParaRPr lang="en-US" sz="1000" dirty="0"/>
          </a:p>
        </p:txBody>
      </p:sp>
      <p:sp>
        <p:nvSpPr>
          <p:cNvPr id="11" name="Text 8"/>
          <p:cNvSpPr/>
          <p:nvPr/>
        </p:nvSpPr>
        <p:spPr>
          <a:xfrm>
            <a:off x="6821537" y="1079822"/>
            <a:ext cx="2155106" cy="195932"/>
          </a:xfrm>
          <a:prstGeom prst="rect">
            <a:avLst/>
          </a:prstGeom>
          <a:noFill/>
          <a:ln/>
        </p:spPr>
        <p:txBody>
          <a:bodyPr wrap="none" lIns="0" tIns="0" rIns="0" bIns="0" rtlCol="0" anchor="t"/>
          <a:lstStyle/>
          <a:p>
            <a:pPr marL="0" indent="0" algn="l">
              <a:lnSpc>
                <a:spcPct val="127000"/>
              </a:lnSpc>
              <a:buNone/>
            </a:pPr>
            <a:r>
              <a:rPr lang="en-US" sz="1000" b="1" kern="0" spc="-20" dirty="0">
                <a:solidFill>
                  <a:srgbClr val="272525"/>
                </a:solidFill>
                <a:latin typeface="Inter Bold" pitchFamily="34" charset="0"/>
                <a:ea typeface="Inter Bold" pitchFamily="34" charset="-122"/>
                <a:cs typeface="Inter Bold" pitchFamily="34" charset="-120"/>
              </a:rPr>
              <a:t>Role</a:t>
            </a:r>
            <a:endParaRPr lang="en-US" sz="1000" dirty="0"/>
          </a:p>
        </p:txBody>
      </p:sp>
      <p:sp>
        <p:nvSpPr>
          <p:cNvPr id="12" name="Text 9"/>
          <p:cNvSpPr/>
          <p:nvPr/>
        </p:nvSpPr>
        <p:spPr>
          <a:xfrm>
            <a:off x="4866754" y="1429643"/>
            <a:ext cx="2155106" cy="195932"/>
          </a:xfrm>
          <a:prstGeom prst="rect">
            <a:avLst/>
          </a:prstGeom>
          <a:noFill/>
          <a:ln/>
        </p:spPr>
        <p:txBody>
          <a:bodyPr wrap="none" lIns="0" tIns="0" rIns="0" bIns="0" rtlCol="0" anchor="t"/>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ESP32</a:t>
            </a:r>
            <a:endParaRPr lang="en-US" sz="1000" dirty="0"/>
          </a:p>
        </p:txBody>
      </p:sp>
      <p:sp>
        <p:nvSpPr>
          <p:cNvPr id="13" name="Text 10"/>
          <p:cNvSpPr/>
          <p:nvPr/>
        </p:nvSpPr>
        <p:spPr>
          <a:xfrm>
            <a:off x="6821537" y="1429643"/>
            <a:ext cx="1697906"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Reads sensors, Wi‑Fi upload, low power</a:t>
            </a:r>
            <a:endParaRPr lang="en-US" sz="1000" dirty="0"/>
          </a:p>
        </p:txBody>
      </p:sp>
      <p:sp>
        <p:nvSpPr>
          <p:cNvPr id="14" name="Text 11"/>
          <p:cNvSpPr/>
          <p:nvPr/>
        </p:nvSpPr>
        <p:spPr>
          <a:xfrm>
            <a:off x="4866754" y="1975396"/>
            <a:ext cx="2155106" cy="195932"/>
          </a:xfrm>
          <a:prstGeom prst="rect">
            <a:avLst/>
          </a:prstGeom>
          <a:noFill/>
          <a:ln/>
        </p:spPr>
        <p:txBody>
          <a:bodyPr wrap="none" lIns="0" tIns="0" rIns="0" bIns="0" rtlCol="0" anchor="t"/>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pH Sensor</a:t>
            </a:r>
            <a:endParaRPr lang="en-US" sz="1000" dirty="0"/>
          </a:p>
        </p:txBody>
      </p:sp>
      <p:sp>
        <p:nvSpPr>
          <p:cNvPr id="15" name="Text 12"/>
          <p:cNvSpPr/>
          <p:nvPr/>
        </p:nvSpPr>
        <p:spPr>
          <a:xfrm>
            <a:off x="6821537" y="1975396"/>
            <a:ext cx="1697906"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Measures acidity (safe: 6.5–8.5)</a:t>
            </a:r>
            <a:endParaRPr lang="en-US" sz="1000" dirty="0"/>
          </a:p>
        </p:txBody>
      </p:sp>
      <p:sp>
        <p:nvSpPr>
          <p:cNvPr id="16" name="Text 13"/>
          <p:cNvSpPr/>
          <p:nvPr/>
        </p:nvSpPr>
        <p:spPr>
          <a:xfrm>
            <a:off x="4866754" y="2521148"/>
            <a:ext cx="2155106" cy="195932"/>
          </a:xfrm>
          <a:prstGeom prst="rect">
            <a:avLst/>
          </a:prstGeom>
          <a:noFill/>
          <a:ln/>
        </p:spPr>
        <p:txBody>
          <a:bodyPr wrap="none" lIns="0" tIns="0" rIns="0" bIns="0" rtlCol="0" anchor="t"/>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Turbidity Sensor</a:t>
            </a:r>
            <a:endParaRPr lang="en-US" sz="1000" dirty="0"/>
          </a:p>
        </p:txBody>
      </p:sp>
      <p:sp>
        <p:nvSpPr>
          <p:cNvPr id="17" name="Text 14"/>
          <p:cNvSpPr/>
          <p:nvPr/>
        </p:nvSpPr>
        <p:spPr>
          <a:xfrm>
            <a:off x="6821537" y="2521148"/>
            <a:ext cx="1697906"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Detects suspended particles / cloudiness</a:t>
            </a:r>
            <a:endParaRPr lang="en-US" sz="1000" dirty="0"/>
          </a:p>
        </p:txBody>
      </p:sp>
      <p:sp>
        <p:nvSpPr>
          <p:cNvPr id="18" name="Text 15"/>
          <p:cNvSpPr/>
          <p:nvPr/>
        </p:nvSpPr>
        <p:spPr>
          <a:xfrm>
            <a:off x="4866754" y="3066901"/>
            <a:ext cx="2155106" cy="195932"/>
          </a:xfrm>
          <a:prstGeom prst="rect">
            <a:avLst/>
          </a:prstGeom>
          <a:noFill/>
          <a:ln/>
        </p:spPr>
        <p:txBody>
          <a:bodyPr wrap="none" lIns="0" tIns="0" rIns="0" bIns="0" rtlCol="0" anchor="t"/>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TDS Sensor</a:t>
            </a:r>
            <a:endParaRPr lang="en-US" sz="1000" dirty="0"/>
          </a:p>
        </p:txBody>
      </p:sp>
      <p:sp>
        <p:nvSpPr>
          <p:cNvPr id="19" name="Text 16"/>
          <p:cNvSpPr/>
          <p:nvPr/>
        </p:nvSpPr>
        <p:spPr>
          <a:xfrm>
            <a:off x="6821537" y="3066901"/>
            <a:ext cx="1697906"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Measures dissolved solids (salts/minerals)</a:t>
            </a:r>
            <a:endParaRPr lang="en-US" sz="1000" dirty="0"/>
          </a:p>
        </p:txBody>
      </p:sp>
      <p:sp>
        <p:nvSpPr>
          <p:cNvPr id="20" name="Text 17"/>
          <p:cNvSpPr/>
          <p:nvPr/>
        </p:nvSpPr>
        <p:spPr>
          <a:xfrm>
            <a:off x="4866754" y="3612654"/>
            <a:ext cx="2155106" cy="195932"/>
          </a:xfrm>
          <a:prstGeom prst="rect">
            <a:avLst/>
          </a:prstGeom>
          <a:noFill/>
          <a:ln/>
        </p:spPr>
        <p:txBody>
          <a:bodyPr wrap="none" lIns="0" tIns="0" rIns="0" bIns="0" rtlCol="0" anchor="t"/>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OLED / Buzzer</a:t>
            </a:r>
            <a:endParaRPr lang="en-US" sz="1000" dirty="0"/>
          </a:p>
        </p:txBody>
      </p:sp>
      <p:sp>
        <p:nvSpPr>
          <p:cNvPr id="21" name="Text 18"/>
          <p:cNvSpPr/>
          <p:nvPr/>
        </p:nvSpPr>
        <p:spPr>
          <a:xfrm>
            <a:off x="6821537" y="3612654"/>
            <a:ext cx="1697906"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Local display and audible alert</a:t>
            </a:r>
            <a:endParaRPr lang="en-US" sz="1000" dirty="0"/>
          </a:p>
        </p:txBody>
      </p:sp>
      <p:sp>
        <p:nvSpPr>
          <p:cNvPr id="22" name="Text 19"/>
          <p:cNvSpPr/>
          <p:nvPr/>
        </p:nvSpPr>
        <p:spPr>
          <a:xfrm>
            <a:off x="4733479" y="4214813"/>
            <a:ext cx="3919165" cy="391864"/>
          </a:xfrm>
          <a:prstGeom prst="rect">
            <a:avLst/>
          </a:prstGeom>
          <a:noFill/>
          <a:ln/>
        </p:spPr>
        <p:txBody>
          <a:bodyPr wrap="square" lIns="0" tIns="0" rIns="0" bIns="0" rtlCol="0" anchor="t">
            <a:normAutofit/>
          </a:bodyPr>
          <a:lstStyle/>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ESP32 chosen for built‑in Wi‑Fi, low cost, and low power consumption.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586285"/>
            <a:ext cx="3478039" cy="1970856"/>
          </a:xfrm>
          <a:prstGeom prst="rect">
            <a:avLst/>
          </a:prstGeom>
        </p:spPr>
      </p:pic>
      <p:sp>
        <p:nvSpPr>
          <p:cNvPr id="3" name="Text 0"/>
          <p:cNvSpPr/>
          <p:nvPr/>
        </p:nvSpPr>
        <p:spPr>
          <a:xfrm>
            <a:off x="4324796" y="1512243"/>
            <a:ext cx="4327773" cy="354360"/>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Software Stack</a:t>
            </a:r>
            <a:endParaRPr lang="en-US" sz="2200" dirty="0"/>
          </a:p>
        </p:txBody>
      </p:sp>
      <p:sp>
        <p:nvSpPr>
          <p:cNvPr id="4" name="Text 1"/>
          <p:cNvSpPr/>
          <p:nvPr/>
        </p:nvSpPr>
        <p:spPr>
          <a:xfrm>
            <a:off x="4324796" y="2008361"/>
            <a:ext cx="432777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Arduino IDE — ESP32 firmware</a:t>
            </a:r>
            <a:endParaRPr lang="en-US" sz="1100" dirty="0"/>
          </a:p>
          <a:p>
            <a:pPr marL="223520" indent="-223520">
              <a:lnSpc>
                <a:spcPct val="133000"/>
              </a:lnSpc>
              <a:buSzPct val="100000"/>
              <a:buChar char="•"/>
            </a:pPr>
            <a:r>
              <a:rPr lang="en-US" sz="1100" dirty="0">
                <a:latin typeface="Inter" panose="020B0604020202020204" charset="0"/>
                <a:ea typeface="Inter" panose="020B0604020202020204" charset="0"/>
              </a:rPr>
              <a:t>Firebase — real-time database and secure storage</a:t>
            </a:r>
          </a:p>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React.js + Chart.js — interactive dashboard and graphs</a:t>
            </a:r>
            <a:endParaRPr lang="en-US" sz="1100" dirty="0"/>
          </a:p>
          <a:p>
            <a:pPr marL="223520" indent="-223520" algn="l">
              <a:lnSpc>
                <a:spcPct val="133000"/>
              </a:lnSpc>
              <a:buSzPct val="100000"/>
              <a:buChar char="•"/>
            </a:pPr>
            <a:r>
              <a:rPr lang="en-US" sz="1100" kern="0" spc="-22" dirty="0">
                <a:solidFill>
                  <a:srgbClr val="272525"/>
                </a:solidFill>
                <a:latin typeface="Inter" pitchFamily="34" charset="0"/>
                <a:ea typeface="Inter" pitchFamily="34" charset="-122"/>
                <a:cs typeface="Inter" pitchFamily="34" charset="-120"/>
              </a:rPr>
              <a:t>Twilio / </a:t>
            </a:r>
            <a:r>
              <a:rPr lang="en-US" sz="1100" kern="0" spc="-22" dirty="0" err="1">
                <a:solidFill>
                  <a:srgbClr val="272525"/>
                </a:solidFill>
                <a:latin typeface="Inter" pitchFamily="34" charset="0"/>
                <a:ea typeface="Inter" pitchFamily="34" charset="-122"/>
                <a:cs typeface="Inter" pitchFamily="34" charset="-120"/>
              </a:rPr>
              <a:t>EmailJS</a:t>
            </a:r>
            <a:r>
              <a:rPr lang="en-US" sz="1100" kern="0" spc="-22" dirty="0">
                <a:solidFill>
                  <a:srgbClr val="272525"/>
                </a:solidFill>
                <a:latin typeface="Inter" pitchFamily="34" charset="0"/>
                <a:ea typeface="Inter" pitchFamily="34" charset="-122"/>
                <a:cs typeface="Inter" pitchFamily="34" charset="-120"/>
              </a:rPr>
              <a:t> — automated SMS and email alerts</a:t>
            </a:r>
            <a:endParaRPr lang="en-US" sz="1100" dirty="0"/>
          </a:p>
        </p:txBody>
      </p:sp>
      <p:sp>
        <p:nvSpPr>
          <p:cNvPr id="5" name="Text 2"/>
          <p:cNvSpPr/>
          <p:nvPr/>
        </p:nvSpPr>
        <p:spPr>
          <a:xfrm>
            <a:off x="4324796" y="3191842"/>
            <a:ext cx="4327773" cy="453628"/>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Design emphasis: simple deployment, secure cloud sync, and an intuitive dashboard for nontechnical users.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961727"/>
            <a:ext cx="4722763" cy="354360"/>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Working Process (At a glance)</a:t>
            </a:r>
            <a:endParaRPr lang="en-US" sz="2200" dirty="0"/>
          </a:p>
        </p:txBody>
      </p:sp>
      <p:pic>
        <p:nvPicPr>
          <p:cNvPr id="4" name="Image 1" descr="preencoded.png"/>
          <p:cNvPicPr>
            <a:picLocks noChangeAspect="1"/>
          </p:cNvPicPr>
          <p:nvPr/>
        </p:nvPicPr>
        <p:blipFill>
          <a:blip r:embed="rId4"/>
          <a:stretch>
            <a:fillRect/>
          </a:stretch>
        </p:blipFill>
        <p:spPr>
          <a:xfrm>
            <a:off x="496119" y="1528688"/>
            <a:ext cx="4722763" cy="2039913"/>
          </a:xfrm>
          <a:prstGeom prst="rect">
            <a:avLst/>
          </a:prstGeom>
        </p:spPr>
      </p:pic>
      <p:sp>
        <p:nvSpPr>
          <p:cNvPr id="5" name="Text 1"/>
          <p:cNvSpPr/>
          <p:nvPr/>
        </p:nvSpPr>
        <p:spPr>
          <a:xfrm>
            <a:off x="1623126" y="2887663"/>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b="1" kern="0" spc="-24" dirty="0">
                <a:solidFill>
                  <a:srgbClr val="272525"/>
                </a:solidFill>
                <a:latin typeface="Inter Bold" pitchFamily="34" charset="0"/>
                <a:ea typeface="Inter Bold" pitchFamily="34" charset="-122"/>
                <a:cs typeface="Inter Bold" pitchFamily="34" charset="-120"/>
              </a:rPr>
              <a:t>Measure Parameters</a:t>
            </a:r>
            <a:endParaRPr lang="en-US" sz="800" dirty="0"/>
          </a:p>
        </p:txBody>
      </p:sp>
      <p:sp>
        <p:nvSpPr>
          <p:cNvPr id="6" name="Text 2"/>
          <p:cNvSpPr/>
          <p:nvPr/>
        </p:nvSpPr>
        <p:spPr>
          <a:xfrm>
            <a:off x="1623126" y="3179421"/>
            <a:ext cx="701226" cy="204344"/>
          </a:xfrm>
          <a:prstGeom prst="rect">
            <a:avLst/>
          </a:prstGeom>
          <a:noFill/>
          <a:ln/>
        </p:spPr>
        <p:txBody>
          <a:bodyPr wrap="square" lIns="0" tIns="0" rIns="0" bIns="0" rtlCol="0" anchor="t">
            <a:normAutofit/>
          </a:bodyPr>
          <a:lstStyle/>
          <a:p>
            <a:pPr marL="0" indent="0" algn="ctr">
              <a:lnSpc>
                <a:spcPct val="104000"/>
              </a:lnSpc>
              <a:buNone/>
            </a:pPr>
            <a:r>
              <a:rPr lang="en-US" sz="600" kern="0" spc="-21" dirty="0">
                <a:solidFill>
                  <a:srgbClr val="272525"/>
                </a:solidFill>
                <a:latin typeface="Inter" pitchFamily="34" charset="0"/>
                <a:ea typeface="Inter" pitchFamily="34" charset="-122"/>
                <a:cs typeface="Inter" pitchFamily="34" charset="-120"/>
              </a:rPr>
              <a:t>pH, turbidity, TDS readings</a:t>
            </a:r>
            <a:endParaRPr lang="en-US" sz="600" dirty="0"/>
          </a:p>
        </p:txBody>
      </p:sp>
      <p:sp>
        <p:nvSpPr>
          <p:cNvPr id="7" name="Text 3"/>
          <p:cNvSpPr/>
          <p:nvPr/>
        </p:nvSpPr>
        <p:spPr>
          <a:xfrm>
            <a:off x="3423694" y="3015378"/>
            <a:ext cx="701226" cy="127715"/>
          </a:xfrm>
          <a:prstGeom prst="rect">
            <a:avLst/>
          </a:prstGeom>
          <a:noFill/>
          <a:ln/>
        </p:spPr>
        <p:txBody>
          <a:bodyPr wrap="none" lIns="0" tIns="0" rIns="0" bIns="0" rtlCol="0" anchor="t"/>
          <a:lstStyle/>
          <a:p>
            <a:pPr marL="0" indent="0" algn="ctr">
              <a:lnSpc>
                <a:spcPct val="104000"/>
              </a:lnSpc>
              <a:buNone/>
            </a:pPr>
            <a:r>
              <a:rPr lang="en-US" sz="800" b="1" kern="0" spc="-24" dirty="0">
                <a:solidFill>
                  <a:srgbClr val="000000"/>
                </a:solidFill>
                <a:latin typeface="Inter Bold" pitchFamily="34" charset="0"/>
                <a:ea typeface="Inter Bold" pitchFamily="34" charset="-122"/>
                <a:cs typeface="Inter Bold" pitchFamily="34" charset="-120"/>
              </a:rPr>
              <a:t>Send via Wi‑Fi</a:t>
            </a:r>
            <a:endParaRPr lang="en-US" sz="800" dirty="0"/>
          </a:p>
        </p:txBody>
      </p:sp>
      <p:sp>
        <p:nvSpPr>
          <p:cNvPr id="8" name="Text 4"/>
          <p:cNvSpPr/>
          <p:nvPr/>
        </p:nvSpPr>
        <p:spPr>
          <a:xfrm>
            <a:off x="3423694" y="3179421"/>
            <a:ext cx="701226" cy="204344"/>
          </a:xfrm>
          <a:prstGeom prst="rect">
            <a:avLst/>
          </a:prstGeom>
          <a:noFill/>
          <a:ln/>
        </p:spPr>
        <p:txBody>
          <a:bodyPr wrap="square" lIns="0" tIns="0" rIns="0" bIns="0" rtlCol="0" anchor="t">
            <a:normAutofit/>
          </a:bodyPr>
          <a:lstStyle/>
          <a:p>
            <a:pPr marL="0" indent="0" algn="ctr">
              <a:lnSpc>
                <a:spcPct val="104000"/>
              </a:lnSpc>
              <a:buNone/>
            </a:pPr>
            <a:r>
              <a:rPr lang="en-US" sz="600" kern="0" spc="-21" dirty="0">
                <a:solidFill>
                  <a:srgbClr val="272525"/>
                </a:solidFill>
                <a:latin typeface="Inter" pitchFamily="34" charset="0"/>
                <a:ea typeface="Inter" pitchFamily="34" charset="-122"/>
                <a:cs typeface="Inter" pitchFamily="34" charset="-120"/>
              </a:rPr>
              <a:t>Transmit data to cloud</a:t>
            </a:r>
            <a:endParaRPr lang="en-US" sz="600" dirty="0"/>
          </a:p>
        </p:txBody>
      </p:sp>
      <p:sp>
        <p:nvSpPr>
          <p:cNvPr id="9" name="Text 5"/>
          <p:cNvSpPr/>
          <p:nvPr/>
        </p:nvSpPr>
        <p:spPr>
          <a:xfrm>
            <a:off x="725077" y="1712757"/>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b="1" kern="0" spc="-24" dirty="0">
                <a:solidFill>
                  <a:srgbClr val="272525"/>
                </a:solidFill>
                <a:latin typeface="Inter Bold" pitchFamily="34" charset="0"/>
                <a:ea typeface="Inter Bold" pitchFamily="34" charset="-122"/>
                <a:cs typeface="Inter Bold" pitchFamily="34" charset="-120"/>
              </a:rPr>
              <a:t>Sensors Deployed</a:t>
            </a:r>
            <a:endParaRPr lang="en-US" sz="800" dirty="0"/>
          </a:p>
        </p:txBody>
      </p:sp>
      <p:sp>
        <p:nvSpPr>
          <p:cNvPr id="10" name="Text 6"/>
          <p:cNvSpPr/>
          <p:nvPr/>
        </p:nvSpPr>
        <p:spPr>
          <a:xfrm>
            <a:off x="725077" y="2004515"/>
            <a:ext cx="701226" cy="204344"/>
          </a:xfrm>
          <a:prstGeom prst="rect">
            <a:avLst/>
          </a:prstGeom>
          <a:noFill/>
          <a:ln/>
        </p:spPr>
        <p:txBody>
          <a:bodyPr wrap="square" lIns="0" tIns="0" rIns="0" bIns="0" rtlCol="0" anchor="t">
            <a:normAutofit/>
          </a:bodyPr>
          <a:lstStyle/>
          <a:p>
            <a:pPr marL="0" indent="0" algn="ctr">
              <a:lnSpc>
                <a:spcPct val="104000"/>
              </a:lnSpc>
              <a:buNone/>
            </a:pPr>
            <a:r>
              <a:rPr lang="en-US" sz="600" kern="0" spc="-21" dirty="0">
                <a:solidFill>
                  <a:srgbClr val="272525"/>
                </a:solidFill>
                <a:latin typeface="Inter" pitchFamily="34" charset="0"/>
                <a:ea typeface="Inter" pitchFamily="34" charset="-122"/>
                <a:cs typeface="Inter" pitchFamily="34" charset="-120"/>
              </a:rPr>
              <a:t>Placed in water bodies</a:t>
            </a:r>
            <a:endParaRPr lang="en-US" sz="600" dirty="0"/>
          </a:p>
        </p:txBody>
      </p:sp>
      <p:sp>
        <p:nvSpPr>
          <p:cNvPr id="11" name="Text 7"/>
          <p:cNvSpPr/>
          <p:nvPr/>
        </p:nvSpPr>
        <p:spPr>
          <a:xfrm>
            <a:off x="4294994" y="1712757"/>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b="1" kern="0" spc="-24" dirty="0">
                <a:solidFill>
                  <a:srgbClr val="272525"/>
                </a:solidFill>
                <a:latin typeface="Inter Bold" pitchFamily="34" charset="0"/>
                <a:ea typeface="Inter Bold" pitchFamily="34" charset="-122"/>
                <a:cs typeface="Inter Bold" pitchFamily="34" charset="-120"/>
              </a:rPr>
              <a:t>Firebase Stores</a:t>
            </a:r>
            <a:endParaRPr lang="en-US" sz="800" dirty="0"/>
          </a:p>
        </p:txBody>
      </p:sp>
      <p:sp>
        <p:nvSpPr>
          <p:cNvPr id="12" name="Text 8"/>
          <p:cNvSpPr/>
          <p:nvPr/>
        </p:nvSpPr>
        <p:spPr>
          <a:xfrm>
            <a:off x="4294994" y="2004515"/>
            <a:ext cx="701226" cy="204344"/>
          </a:xfrm>
          <a:prstGeom prst="rect">
            <a:avLst/>
          </a:prstGeom>
          <a:noFill/>
          <a:ln/>
        </p:spPr>
        <p:txBody>
          <a:bodyPr wrap="square" lIns="0" tIns="0" rIns="0" bIns="0" rtlCol="0" anchor="t">
            <a:normAutofit/>
          </a:bodyPr>
          <a:lstStyle/>
          <a:p>
            <a:pPr marL="0" indent="0" algn="ctr">
              <a:lnSpc>
                <a:spcPct val="104000"/>
              </a:lnSpc>
              <a:buNone/>
            </a:pPr>
            <a:r>
              <a:rPr lang="en-US" sz="600" kern="0" spc="-21" dirty="0">
                <a:solidFill>
                  <a:srgbClr val="272525"/>
                </a:solidFill>
                <a:latin typeface="Inter" pitchFamily="34" charset="0"/>
                <a:ea typeface="Inter" pitchFamily="34" charset="-122"/>
                <a:cs typeface="Inter" pitchFamily="34" charset="-120"/>
              </a:rPr>
              <a:t>Database and dashboard update</a:t>
            </a:r>
            <a:endParaRPr lang="en-US" sz="600" dirty="0"/>
          </a:p>
        </p:txBody>
      </p:sp>
      <p:sp>
        <p:nvSpPr>
          <p:cNvPr id="13" name="Text 9"/>
          <p:cNvSpPr/>
          <p:nvPr/>
        </p:nvSpPr>
        <p:spPr>
          <a:xfrm>
            <a:off x="2534585" y="1712757"/>
            <a:ext cx="701226" cy="127715"/>
          </a:xfrm>
          <a:prstGeom prst="rect">
            <a:avLst/>
          </a:prstGeom>
          <a:noFill/>
          <a:ln/>
        </p:spPr>
        <p:txBody>
          <a:bodyPr wrap="none" lIns="0" tIns="0" rIns="0" bIns="0" rtlCol="0" anchor="t"/>
          <a:lstStyle/>
          <a:p>
            <a:pPr marL="0" indent="0" algn="ctr">
              <a:lnSpc>
                <a:spcPct val="104000"/>
              </a:lnSpc>
              <a:buNone/>
            </a:pPr>
            <a:r>
              <a:rPr lang="en-US" sz="800" b="1" kern="0" spc="-24" dirty="0">
                <a:solidFill>
                  <a:srgbClr val="000000"/>
                </a:solidFill>
                <a:latin typeface="Inter Bold" pitchFamily="34" charset="0"/>
                <a:ea typeface="Inter Bold" pitchFamily="34" charset="-122"/>
                <a:cs typeface="Inter Bold" pitchFamily="34" charset="-120"/>
              </a:rPr>
              <a:t>ESP32 Reads</a:t>
            </a:r>
            <a:endParaRPr lang="en-US" sz="800" dirty="0"/>
          </a:p>
        </p:txBody>
      </p:sp>
      <p:sp>
        <p:nvSpPr>
          <p:cNvPr id="14" name="Text 10"/>
          <p:cNvSpPr/>
          <p:nvPr/>
        </p:nvSpPr>
        <p:spPr>
          <a:xfrm>
            <a:off x="2534585" y="1876800"/>
            <a:ext cx="701226" cy="204344"/>
          </a:xfrm>
          <a:prstGeom prst="rect">
            <a:avLst/>
          </a:prstGeom>
          <a:noFill/>
          <a:ln/>
        </p:spPr>
        <p:txBody>
          <a:bodyPr wrap="square" lIns="0" tIns="0" rIns="0" bIns="0" rtlCol="0" anchor="t">
            <a:normAutofit/>
          </a:bodyPr>
          <a:lstStyle/>
          <a:p>
            <a:pPr marL="0" indent="0" algn="ctr">
              <a:lnSpc>
                <a:spcPct val="104000"/>
              </a:lnSpc>
              <a:buNone/>
            </a:pPr>
            <a:r>
              <a:rPr lang="en-US" sz="600" kern="0" spc="-21" dirty="0">
                <a:solidFill>
                  <a:srgbClr val="272525"/>
                </a:solidFill>
                <a:latin typeface="Inter" pitchFamily="34" charset="0"/>
                <a:ea typeface="Inter" pitchFamily="34" charset="-122"/>
                <a:cs typeface="Inter" pitchFamily="34" charset="-120"/>
              </a:rPr>
              <a:t>Collects sensor values</a:t>
            </a:r>
            <a:endParaRPr lang="en-US" sz="600" dirty="0"/>
          </a:p>
        </p:txBody>
      </p:sp>
      <p:sp>
        <p:nvSpPr>
          <p:cNvPr id="15" name="Text 11"/>
          <p:cNvSpPr/>
          <p:nvPr/>
        </p:nvSpPr>
        <p:spPr>
          <a:xfrm>
            <a:off x="496119" y="3728070"/>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The full loop completes within seconds: measurement → transmission → visualization → notification for rapid local response.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892671"/>
            <a:ext cx="3902943" cy="2211660"/>
          </a:xfrm>
          <a:prstGeom prst="rect">
            <a:avLst/>
          </a:prstGeom>
        </p:spPr>
      </p:pic>
      <p:sp>
        <p:nvSpPr>
          <p:cNvPr id="3" name="Text 0"/>
          <p:cNvSpPr/>
          <p:nvPr/>
        </p:nvSpPr>
        <p:spPr>
          <a:xfrm>
            <a:off x="4749701" y="1530697"/>
            <a:ext cx="3902943" cy="354360"/>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Impact &amp; Applications</a:t>
            </a:r>
            <a:endParaRPr lang="en-US" sz="2200" dirty="0"/>
          </a:p>
        </p:txBody>
      </p:sp>
      <p:sp>
        <p:nvSpPr>
          <p:cNvPr id="4" name="Text 1"/>
          <p:cNvSpPr/>
          <p:nvPr/>
        </p:nvSpPr>
        <p:spPr>
          <a:xfrm>
            <a:off x="4749701" y="2026816"/>
            <a:ext cx="3902943" cy="453628"/>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Scalable to government supply systems, purification plants, and smart‑village initiatives.</a:t>
            </a:r>
            <a:endParaRPr lang="en-US" sz="1100" dirty="0"/>
          </a:p>
        </p:txBody>
      </p:sp>
      <p:pic>
        <p:nvPicPr>
          <p:cNvPr id="5" name="Image 1" descr="preencoded.png"/>
          <p:cNvPicPr>
            <a:picLocks noChangeAspect="1"/>
          </p:cNvPicPr>
          <p:nvPr/>
        </p:nvPicPr>
        <p:blipFill>
          <a:blip r:embed="rId4"/>
          <a:stretch>
            <a:fillRect/>
          </a:stretch>
        </p:blipFill>
        <p:spPr>
          <a:xfrm>
            <a:off x="496119" y="3423270"/>
            <a:ext cx="571798" cy="714747"/>
          </a:xfrm>
          <a:prstGeom prst="rect">
            <a:avLst/>
          </a:prstGeom>
        </p:spPr>
      </p:pic>
      <p:sp>
        <p:nvSpPr>
          <p:cNvPr id="6" name="Text 2"/>
          <p:cNvSpPr/>
          <p:nvPr/>
        </p:nvSpPr>
        <p:spPr>
          <a:xfrm>
            <a:off x="1245096" y="3423270"/>
            <a:ext cx="1850157" cy="221456"/>
          </a:xfrm>
          <a:prstGeom prst="rect">
            <a:avLst/>
          </a:prstGeom>
          <a:noFill/>
          <a:ln/>
        </p:spPr>
        <p:txBody>
          <a:bodyPr wrap="none" lIns="0" tIns="0" rIns="0" bIns="0" rtlCol="0" anchor="t"/>
          <a:lstStyle/>
          <a:p>
            <a:pPr marL="0" indent="0" algn="l">
              <a:lnSpc>
                <a:spcPct val="104000"/>
              </a:lnSpc>
              <a:buNone/>
            </a:pPr>
            <a:r>
              <a:rPr lang="en-US" sz="1350" b="1" kern="0" spc="-42" dirty="0">
                <a:solidFill>
                  <a:srgbClr val="272525"/>
                </a:solidFill>
                <a:latin typeface="Inter Bold" pitchFamily="34" charset="0"/>
                <a:ea typeface="Inter Bold" pitchFamily="34" charset="-122"/>
                <a:cs typeface="Inter Bold" pitchFamily="34" charset="-120"/>
              </a:rPr>
              <a:t>Village Water Tanks</a:t>
            </a:r>
            <a:endParaRPr lang="en-US" sz="1350" dirty="0"/>
          </a:p>
        </p:txBody>
      </p:sp>
      <p:sp>
        <p:nvSpPr>
          <p:cNvPr id="7" name="Text 3"/>
          <p:cNvSpPr/>
          <p:nvPr/>
        </p:nvSpPr>
        <p:spPr>
          <a:xfrm>
            <a:off x="1245096" y="3729782"/>
            <a:ext cx="1850157" cy="680442"/>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Continuous monitoring prevents large‑scale contamination.</a:t>
            </a:r>
            <a:endParaRPr lang="en-US" sz="1100" dirty="0"/>
          </a:p>
        </p:txBody>
      </p:sp>
      <p:pic>
        <p:nvPicPr>
          <p:cNvPr id="8" name="Image 2" descr="preencoded.png"/>
          <p:cNvPicPr>
            <a:picLocks noChangeAspect="1"/>
          </p:cNvPicPr>
          <p:nvPr/>
        </p:nvPicPr>
        <p:blipFill>
          <a:blip r:embed="rId5"/>
          <a:stretch>
            <a:fillRect/>
          </a:stretch>
        </p:blipFill>
        <p:spPr>
          <a:xfrm>
            <a:off x="3272433" y="3423270"/>
            <a:ext cx="571798" cy="714747"/>
          </a:xfrm>
          <a:prstGeom prst="rect">
            <a:avLst/>
          </a:prstGeom>
        </p:spPr>
      </p:pic>
      <p:sp>
        <p:nvSpPr>
          <p:cNvPr id="9" name="Text 4"/>
          <p:cNvSpPr/>
          <p:nvPr/>
        </p:nvSpPr>
        <p:spPr>
          <a:xfrm>
            <a:off x="4021410" y="3423270"/>
            <a:ext cx="1850157" cy="221456"/>
          </a:xfrm>
          <a:prstGeom prst="rect">
            <a:avLst/>
          </a:prstGeom>
          <a:noFill/>
          <a:ln/>
        </p:spPr>
        <p:txBody>
          <a:bodyPr wrap="none" lIns="0" tIns="0" rIns="0" bIns="0" rtlCol="0" anchor="t"/>
          <a:lstStyle/>
          <a:p>
            <a:pPr marL="0" indent="0" algn="l">
              <a:lnSpc>
                <a:spcPct val="104000"/>
              </a:lnSpc>
              <a:buNone/>
            </a:pPr>
            <a:r>
              <a:rPr lang="en-US" sz="1350" b="1" kern="0" spc="-42" dirty="0">
                <a:solidFill>
                  <a:srgbClr val="272525"/>
                </a:solidFill>
                <a:latin typeface="Inter Bold" pitchFamily="34" charset="0"/>
                <a:ea typeface="Inter Bold" pitchFamily="34" charset="-122"/>
                <a:cs typeface="Inter Bold" pitchFamily="34" charset="-120"/>
              </a:rPr>
              <a:t>Schools &amp; Hospitals</a:t>
            </a:r>
            <a:endParaRPr lang="en-US" sz="1350" dirty="0"/>
          </a:p>
        </p:txBody>
      </p:sp>
      <p:sp>
        <p:nvSpPr>
          <p:cNvPr id="10" name="Text 5"/>
          <p:cNvSpPr/>
          <p:nvPr/>
        </p:nvSpPr>
        <p:spPr>
          <a:xfrm>
            <a:off x="4021410" y="3729782"/>
            <a:ext cx="1850157" cy="680442"/>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Protects vulnerable populations with timely alerts.</a:t>
            </a:r>
            <a:endParaRPr lang="en-US" sz="1100" dirty="0"/>
          </a:p>
        </p:txBody>
      </p:sp>
      <p:pic>
        <p:nvPicPr>
          <p:cNvPr id="11" name="Image 3" descr="preencoded.png"/>
          <p:cNvPicPr>
            <a:picLocks noChangeAspect="1"/>
          </p:cNvPicPr>
          <p:nvPr/>
        </p:nvPicPr>
        <p:blipFill>
          <a:blip r:embed="rId6"/>
          <a:stretch>
            <a:fillRect/>
          </a:stretch>
        </p:blipFill>
        <p:spPr>
          <a:xfrm>
            <a:off x="6048747" y="3423270"/>
            <a:ext cx="571798" cy="714747"/>
          </a:xfrm>
          <a:prstGeom prst="rect">
            <a:avLst/>
          </a:prstGeom>
        </p:spPr>
      </p:pic>
      <p:sp>
        <p:nvSpPr>
          <p:cNvPr id="12" name="Text 6"/>
          <p:cNvSpPr/>
          <p:nvPr/>
        </p:nvSpPr>
        <p:spPr>
          <a:xfrm>
            <a:off x="6797725" y="3423270"/>
            <a:ext cx="1850157" cy="221456"/>
          </a:xfrm>
          <a:prstGeom prst="rect">
            <a:avLst/>
          </a:prstGeom>
          <a:noFill/>
          <a:ln/>
        </p:spPr>
        <p:txBody>
          <a:bodyPr wrap="none" lIns="0" tIns="0" rIns="0" bIns="0" rtlCol="0" anchor="t"/>
          <a:lstStyle/>
          <a:p>
            <a:pPr marL="0" indent="0" algn="l">
              <a:lnSpc>
                <a:spcPct val="104000"/>
              </a:lnSpc>
              <a:buNone/>
            </a:pPr>
            <a:r>
              <a:rPr lang="en-US" sz="1350" b="1" kern="0" spc="-42" dirty="0">
                <a:solidFill>
                  <a:srgbClr val="272525"/>
                </a:solidFill>
                <a:latin typeface="Inter Bold" pitchFamily="34" charset="0"/>
                <a:ea typeface="Inter Bold" pitchFamily="34" charset="-122"/>
                <a:cs typeface="Inter Bold" pitchFamily="34" charset="-120"/>
              </a:rPr>
              <a:t>Disaster Relief</a:t>
            </a:r>
            <a:endParaRPr lang="en-US" sz="1350" dirty="0"/>
          </a:p>
        </p:txBody>
      </p:sp>
      <p:sp>
        <p:nvSpPr>
          <p:cNvPr id="13" name="Text 7"/>
          <p:cNvSpPr/>
          <p:nvPr/>
        </p:nvSpPr>
        <p:spPr>
          <a:xfrm>
            <a:off x="6797725" y="3729782"/>
            <a:ext cx="1850157" cy="680442"/>
          </a:xfrm>
          <a:prstGeom prst="rect">
            <a:avLst/>
          </a:prstGeom>
          <a:noFill/>
          <a:ln/>
        </p:spPr>
        <p:txBody>
          <a:bodyPr wrap="square" lIns="0" tIns="0" rIns="0" bIns="0" rtlCol="0" anchor="t">
            <a:normAutofit/>
          </a:bodyPr>
          <a:lstStyle/>
          <a:p>
            <a:pPr marL="0" indent="0" algn="l">
              <a:lnSpc>
                <a:spcPct val="133000"/>
              </a:lnSpc>
              <a:buNone/>
            </a:pPr>
            <a:r>
              <a:rPr lang="en-US" sz="1100" kern="0" spc="-22" dirty="0">
                <a:solidFill>
                  <a:srgbClr val="272525"/>
                </a:solidFill>
                <a:latin typeface="Inter" pitchFamily="34" charset="0"/>
                <a:ea typeface="Inter" pitchFamily="34" charset="-122"/>
                <a:cs typeface="Inter" pitchFamily="34" charset="-120"/>
              </a:rPr>
              <a:t>Fast deployment for emergency water safety monitoring.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29890"/>
            <a:ext cx="4722763" cy="304502"/>
          </a:xfrm>
          <a:prstGeom prst="rect">
            <a:avLst/>
          </a:prstGeom>
          <a:noFill/>
          <a:ln/>
        </p:spPr>
        <p:txBody>
          <a:bodyPr wrap="none" lIns="0" tIns="0" rIns="0" bIns="0" rtlCol="0" anchor="t"/>
          <a:lstStyle/>
          <a:p>
            <a:pPr marL="0" indent="0" algn="l">
              <a:lnSpc>
                <a:spcPct val="104000"/>
              </a:lnSpc>
              <a:buNone/>
            </a:pPr>
            <a:r>
              <a:rPr lang="en-US" sz="1900" b="1" kern="0" spc="-58" dirty="0">
                <a:solidFill>
                  <a:srgbClr val="000000"/>
                </a:solidFill>
                <a:latin typeface="Inter Bold" pitchFamily="34" charset="0"/>
                <a:ea typeface="Inter Bold" pitchFamily="34" charset="-122"/>
                <a:cs typeface="Inter Bold" pitchFamily="34" charset="-120"/>
              </a:rPr>
              <a:t>Future Roadmap &amp; Conclusion</a:t>
            </a:r>
            <a:endParaRPr lang="en-US" sz="19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891406"/>
            <a:ext cx="2309068" cy="1420118"/>
          </a:xfrm>
          <a:prstGeom prst="rect">
            <a:avLst/>
          </a:prstGeom>
        </p:spPr>
      </p:pic>
      <p:sp>
        <p:nvSpPr>
          <p:cNvPr id="5" name="Text 1"/>
          <p:cNvSpPr/>
          <p:nvPr/>
        </p:nvSpPr>
        <p:spPr>
          <a:xfrm>
            <a:off x="1577541" y="982787"/>
            <a:ext cx="146149" cy="182687"/>
          </a:xfrm>
          <a:prstGeom prst="rect">
            <a:avLst/>
          </a:prstGeom>
          <a:noFill/>
          <a:ln/>
        </p:spPr>
        <p:txBody>
          <a:bodyPr wrap="none" lIns="0" tIns="0" rIns="0" bIns="0" rtlCol="0" anchor="ctr"/>
          <a:lstStyle/>
          <a:p>
            <a:pPr marL="0" indent="0" algn="ctr">
              <a:lnSpc>
                <a:spcPct val="100000"/>
              </a:lnSpc>
              <a:buNone/>
            </a:pPr>
            <a:r>
              <a:rPr lang="en-US" sz="1150" b="1" kern="0" spc="-29" dirty="0">
                <a:solidFill>
                  <a:srgbClr val="FFFFFF"/>
                </a:solidFill>
                <a:latin typeface="Inter Bold" pitchFamily="34" charset="0"/>
                <a:ea typeface="Inter Bold" pitchFamily="34" charset="-122"/>
                <a:cs typeface="Inter Bold" pitchFamily="34" charset="-120"/>
              </a:rPr>
              <a:t>1</a:t>
            </a:r>
            <a:endParaRPr lang="en-US" sz="1150" dirty="0"/>
          </a:p>
        </p:txBody>
      </p:sp>
      <p:sp>
        <p:nvSpPr>
          <p:cNvPr id="6" name="Text 2"/>
          <p:cNvSpPr/>
          <p:nvPr/>
        </p:nvSpPr>
        <p:spPr>
          <a:xfrm>
            <a:off x="632222" y="1378669"/>
            <a:ext cx="203686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AI Predictions</a:t>
            </a:r>
            <a:endParaRPr lang="en-US" sz="1150" dirty="0"/>
          </a:p>
        </p:txBody>
      </p:sp>
      <p:sp>
        <p:nvSpPr>
          <p:cNvPr id="7" name="Text 3"/>
          <p:cNvSpPr/>
          <p:nvPr/>
        </p:nvSpPr>
        <p:spPr>
          <a:xfrm>
            <a:off x="632222" y="1631826"/>
            <a:ext cx="2036862" cy="543595"/>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Machine learning to forecast contamination events from historical data</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9813" y="891406"/>
            <a:ext cx="2309068" cy="1420118"/>
          </a:xfrm>
          <a:prstGeom prst="rect">
            <a:avLst/>
          </a:prstGeom>
        </p:spPr>
      </p:pic>
      <p:sp>
        <p:nvSpPr>
          <p:cNvPr id="9" name="Text 4"/>
          <p:cNvSpPr/>
          <p:nvPr/>
        </p:nvSpPr>
        <p:spPr>
          <a:xfrm>
            <a:off x="3991235" y="982787"/>
            <a:ext cx="146149" cy="182687"/>
          </a:xfrm>
          <a:prstGeom prst="rect">
            <a:avLst/>
          </a:prstGeom>
          <a:noFill/>
          <a:ln/>
        </p:spPr>
        <p:txBody>
          <a:bodyPr wrap="none" lIns="0" tIns="0" rIns="0" bIns="0" rtlCol="0" anchor="ctr"/>
          <a:lstStyle/>
          <a:p>
            <a:pPr marL="0" indent="0" algn="ctr">
              <a:lnSpc>
                <a:spcPct val="100000"/>
              </a:lnSpc>
              <a:buNone/>
            </a:pPr>
            <a:r>
              <a:rPr lang="en-US" sz="1150" b="1" kern="0" spc="-29" dirty="0">
                <a:solidFill>
                  <a:srgbClr val="FFFFFF"/>
                </a:solidFill>
                <a:latin typeface="Inter Bold" pitchFamily="34" charset="0"/>
                <a:ea typeface="Inter Bold" pitchFamily="34" charset="-122"/>
                <a:cs typeface="Inter Bold" pitchFamily="34" charset="-120"/>
              </a:rPr>
              <a:t>2</a:t>
            </a:r>
            <a:endParaRPr lang="en-US" sz="1150" dirty="0"/>
          </a:p>
        </p:txBody>
      </p:sp>
      <p:sp>
        <p:nvSpPr>
          <p:cNvPr id="10" name="Text 5"/>
          <p:cNvSpPr/>
          <p:nvPr/>
        </p:nvSpPr>
        <p:spPr>
          <a:xfrm>
            <a:off x="3045916" y="1378669"/>
            <a:ext cx="203686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Mobile App</a:t>
            </a:r>
            <a:endParaRPr lang="en-US" sz="1150" dirty="0"/>
          </a:p>
        </p:txBody>
      </p:sp>
      <p:sp>
        <p:nvSpPr>
          <p:cNvPr id="11" name="Text 6"/>
          <p:cNvSpPr/>
          <p:nvPr/>
        </p:nvSpPr>
        <p:spPr>
          <a:xfrm>
            <a:off x="3045916" y="1631826"/>
            <a:ext cx="2036862"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Push notifications and localized guidance for caretakers</a:t>
            </a:r>
            <a:endParaRPr lang="en-US" sz="9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416150"/>
            <a:ext cx="2309068" cy="1238920"/>
          </a:xfrm>
          <a:prstGeom prst="rect">
            <a:avLst/>
          </a:prstGeom>
        </p:spPr>
      </p:pic>
      <p:sp>
        <p:nvSpPr>
          <p:cNvPr id="13" name="Text 7"/>
          <p:cNvSpPr/>
          <p:nvPr/>
        </p:nvSpPr>
        <p:spPr>
          <a:xfrm>
            <a:off x="1577541" y="2507531"/>
            <a:ext cx="146149" cy="182687"/>
          </a:xfrm>
          <a:prstGeom prst="rect">
            <a:avLst/>
          </a:prstGeom>
          <a:noFill/>
          <a:ln/>
        </p:spPr>
        <p:txBody>
          <a:bodyPr wrap="none" lIns="0" tIns="0" rIns="0" bIns="0" rtlCol="0" anchor="ctr"/>
          <a:lstStyle/>
          <a:p>
            <a:pPr marL="0" indent="0" algn="ctr">
              <a:lnSpc>
                <a:spcPct val="100000"/>
              </a:lnSpc>
              <a:buNone/>
            </a:pPr>
            <a:r>
              <a:rPr lang="en-US" sz="1150" b="1" kern="0" spc="-29" dirty="0">
                <a:solidFill>
                  <a:srgbClr val="FFFFFF"/>
                </a:solidFill>
                <a:latin typeface="Inter Bold" pitchFamily="34" charset="0"/>
                <a:ea typeface="Inter Bold" pitchFamily="34" charset="-122"/>
                <a:cs typeface="Inter Bold" pitchFamily="34" charset="-120"/>
              </a:rPr>
              <a:t>3</a:t>
            </a:r>
            <a:endParaRPr lang="en-US" sz="1150" dirty="0"/>
          </a:p>
        </p:txBody>
      </p:sp>
      <p:sp>
        <p:nvSpPr>
          <p:cNvPr id="14" name="Text 8"/>
          <p:cNvSpPr/>
          <p:nvPr/>
        </p:nvSpPr>
        <p:spPr>
          <a:xfrm>
            <a:off x="632222" y="2903413"/>
            <a:ext cx="203686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Solar Power &amp; GPS</a:t>
            </a:r>
            <a:endParaRPr lang="en-US" sz="1150" dirty="0"/>
          </a:p>
        </p:txBody>
      </p:sp>
      <p:sp>
        <p:nvSpPr>
          <p:cNvPr id="15" name="Text 9"/>
          <p:cNvSpPr/>
          <p:nvPr/>
        </p:nvSpPr>
        <p:spPr>
          <a:xfrm>
            <a:off x="632222" y="3156570"/>
            <a:ext cx="2036862"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Off‑grid monitoring with geolocation for fleet management</a:t>
            </a:r>
            <a:endParaRPr lang="en-US" sz="9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09813" y="2416150"/>
            <a:ext cx="2309068" cy="1238920"/>
          </a:xfrm>
          <a:prstGeom prst="rect">
            <a:avLst/>
          </a:prstGeom>
        </p:spPr>
      </p:pic>
      <p:sp>
        <p:nvSpPr>
          <p:cNvPr id="17" name="Text 10"/>
          <p:cNvSpPr/>
          <p:nvPr/>
        </p:nvSpPr>
        <p:spPr>
          <a:xfrm>
            <a:off x="3991235" y="2507531"/>
            <a:ext cx="146149" cy="182687"/>
          </a:xfrm>
          <a:prstGeom prst="rect">
            <a:avLst/>
          </a:prstGeom>
          <a:noFill/>
          <a:ln/>
        </p:spPr>
        <p:txBody>
          <a:bodyPr wrap="none" lIns="0" tIns="0" rIns="0" bIns="0" rtlCol="0" anchor="ctr"/>
          <a:lstStyle/>
          <a:p>
            <a:pPr marL="0" indent="0" algn="ctr">
              <a:lnSpc>
                <a:spcPct val="100000"/>
              </a:lnSpc>
              <a:buNone/>
            </a:pPr>
            <a:r>
              <a:rPr lang="en-US" sz="1150" b="1" kern="0" spc="-29" dirty="0">
                <a:solidFill>
                  <a:srgbClr val="FFFFFF"/>
                </a:solidFill>
                <a:latin typeface="Inter Bold" pitchFamily="34" charset="0"/>
                <a:ea typeface="Inter Bold" pitchFamily="34" charset="-122"/>
                <a:cs typeface="Inter Bold" pitchFamily="34" charset="-120"/>
              </a:rPr>
              <a:t>4</a:t>
            </a:r>
            <a:endParaRPr lang="en-US" sz="1150" dirty="0"/>
          </a:p>
        </p:txBody>
      </p:sp>
      <p:sp>
        <p:nvSpPr>
          <p:cNvPr id="18" name="Text 11"/>
          <p:cNvSpPr/>
          <p:nvPr/>
        </p:nvSpPr>
        <p:spPr>
          <a:xfrm>
            <a:off x="3045916" y="2903413"/>
            <a:ext cx="203686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Additional Sensors</a:t>
            </a:r>
            <a:endParaRPr lang="en-US" sz="1150" dirty="0"/>
          </a:p>
        </p:txBody>
      </p:sp>
      <p:sp>
        <p:nvSpPr>
          <p:cNvPr id="19" name="Text 12"/>
          <p:cNvSpPr/>
          <p:nvPr/>
        </p:nvSpPr>
        <p:spPr>
          <a:xfrm>
            <a:off x="3045916" y="3156570"/>
            <a:ext cx="2036862"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Temperature, dissolved oxygen, residual chlorine for richer analysis</a:t>
            </a:r>
            <a:endParaRPr lang="en-US" sz="950" dirty="0"/>
          </a:p>
        </p:txBody>
      </p:sp>
      <p:sp>
        <p:nvSpPr>
          <p:cNvPr id="20" name="Text 13"/>
          <p:cNvSpPr/>
          <p:nvPr/>
        </p:nvSpPr>
        <p:spPr>
          <a:xfrm>
            <a:off x="496119" y="3772793"/>
            <a:ext cx="4722763"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AquaWatch is an affordable, practical solution to reduce waterborne disease by detecting contamination early and empowering rural authorities with real‑time data.</a:t>
            </a:r>
            <a:endParaRPr lang="en-US" sz="950" dirty="0"/>
          </a:p>
        </p:txBody>
      </p:sp>
      <p:sp>
        <p:nvSpPr>
          <p:cNvPr id="21" name="Shape 14"/>
          <p:cNvSpPr/>
          <p:nvPr/>
        </p:nvSpPr>
        <p:spPr>
          <a:xfrm>
            <a:off x="496119" y="4283348"/>
            <a:ext cx="4722763" cy="14288"/>
          </a:xfrm>
          <a:prstGeom prst="roundRect">
            <a:avLst>
              <a:gd name="adj" fmla="val 49998"/>
            </a:avLst>
          </a:prstGeom>
          <a:solidFill>
            <a:srgbClr val="272525">
              <a:alpha val="50000"/>
            </a:srgbClr>
          </a:solidFill>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593</Words>
  <Application>Microsoft Office PowerPoint</Application>
  <PresentationFormat>On-screen Show (16:9)</PresentationFormat>
  <Paragraphs>107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Inter Bold</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Sravya Kamisetti</dc:creator>
  <cp:lastModifiedBy>Sravya Kamisetti</cp:lastModifiedBy>
  <cp:revision>11</cp:revision>
  <dcterms:created xsi:type="dcterms:W3CDTF">2026-08-05T14:26:43Z</dcterms:created>
  <dcterms:modified xsi:type="dcterms:W3CDTF">2026-08-06T03:32:50Z</dcterms:modified>
</cp:coreProperties>
</file>